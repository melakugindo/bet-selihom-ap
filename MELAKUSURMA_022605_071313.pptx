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7" r:id="rId3"/>
    <p:sldId id="258" r:id="rId4"/>
    <p:sldId id="259" r:id="rId5"/>
    <p:sldId id="284" r:id="rId6"/>
    <p:sldId id="260" r:id="rId7"/>
    <p:sldId id="261" r:id="rId8"/>
    <p:sldId id="262" r:id="rId9"/>
    <p:sldId id="263" r:id="rId10"/>
    <p:sldId id="285" r:id="rId11"/>
    <p:sldId id="264" r:id="rId12"/>
    <p:sldId id="265" r:id="rId13"/>
    <p:sldId id="266" r:id="rId14"/>
    <p:sldId id="286" r:id="rId15"/>
    <p:sldId id="289" r:id="rId16"/>
    <p:sldId id="290" r:id="rId17"/>
    <p:sldId id="291" r:id="rId18"/>
    <p:sldId id="287" r:id="rId19"/>
    <p:sldId id="288" r:id="rId20"/>
    <p:sldId id="292" r:id="rId21"/>
    <p:sldId id="293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23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4844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836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37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902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228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989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397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72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474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791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4946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95797-7977-4687-BF54-9297D36ABC9F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33A64-7BD2-46A7-BB52-2F870964D2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69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tel:2026" TargetMode="External"/><Relationship Id="rId2" Type="http://schemas.openxmlformats.org/officeDocument/2006/relationships/hyperlink" Target="tel:2018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tel:000" TargetMode="External"/><Relationship Id="rId2" Type="http://schemas.openxmlformats.org/officeDocument/2006/relationships/hyperlink" Target="tel:10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tel:300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tel:800" TargetMode="External"/><Relationship Id="rId3" Type="http://schemas.openxmlformats.org/officeDocument/2006/relationships/hyperlink" Target="tel:000" TargetMode="External"/><Relationship Id="rId7" Type="http://schemas.openxmlformats.org/officeDocument/2006/relationships/hyperlink" Target="tel:150" TargetMode="External"/><Relationship Id="rId2" Type="http://schemas.openxmlformats.org/officeDocument/2006/relationships/hyperlink" Target="tel:50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tel:250" TargetMode="External"/><Relationship Id="rId5" Type="http://schemas.openxmlformats.org/officeDocument/2006/relationships/hyperlink" Target="tel:180" TargetMode="External"/><Relationship Id="rId4" Type="http://schemas.openxmlformats.org/officeDocument/2006/relationships/hyperlink" Target="tel:120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tel:800" TargetMode="External"/><Relationship Id="rId3" Type="http://schemas.openxmlformats.org/officeDocument/2006/relationships/hyperlink" Target="tel:000" TargetMode="External"/><Relationship Id="rId7" Type="http://schemas.openxmlformats.org/officeDocument/2006/relationships/hyperlink" Target="tel:160" TargetMode="External"/><Relationship Id="rId2" Type="http://schemas.openxmlformats.org/officeDocument/2006/relationships/hyperlink" Target="tel:30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tel:340" TargetMode="External"/><Relationship Id="rId5" Type="http://schemas.openxmlformats.org/officeDocument/2006/relationships/hyperlink" Target="tel:500" TargetMode="External"/><Relationship Id="rId10" Type="http://schemas.openxmlformats.org/officeDocument/2006/relationships/hyperlink" Target="tel:280" TargetMode="External"/><Relationship Id="rId4" Type="http://schemas.openxmlformats.org/officeDocument/2006/relationships/hyperlink" Target="tel:220" TargetMode="External"/><Relationship Id="rId9" Type="http://schemas.openxmlformats.org/officeDocument/2006/relationships/hyperlink" Target="tel:520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tel:000" TargetMode="External"/><Relationship Id="rId2" Type="http://schemas.openxmlformats.org/officeDocument/2006/relationships/hyperlink" Target="tel:500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tel:000" TargetMode="External"/><Relationship Id="rId2" Type="http://schemas.openxmlformats.org/officeDocument/2006/relationships/hyperlink" Target="tel:50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tel:800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tel:000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tel:000" TargetMode="External"/><Relationship Id="rId2" Type="http://schemas.openxmlformats.org/officeDocument/2006/relationships/hyperlink" Target="tel:50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tel:700" TargetMode="External"/><Relationship Id="rId4" Type="http://schemas.openxmlformats.org/officeDocument/2006/relationships/hyperlink" Target="tel:800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latin typeface="Power Geez Unicode3" pitchFamily="2" charset="0"/>
              </a:rPr>
              <a:t>1. </a:t>
            </a:r>
            <a:r>
              <a:rPr lang="en-GB" b="1" dirty="0" err="1" smtClean="0">
                <a:latin typeface="Power Geez Unicode3" pitchFamily="2" charset="0"/>
              </a:rPr>
              <a:t>የሽፋን</a:t>
            </a:r>
            <a:r>
              <a:rPr lang="en-GB" b="1" dirty="0" smtClean="0">
                <a:latin typeface="Power Geez Unicode3" pitchFamily="2" charset="0"/>
              </a:rPr>
              <a:t> </a:t>
            </a:r>
            <a:r>
              <a:rPr lang="en-GB" b="1" dirty="0" err="1" smtClean="0">
                <a:latin typeface="Power Geez Unicode3" pitchFamily="2" charset="0"/>
              </a:rPr>
              <a:t>ገጽ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0" indent="-685800">
              <a:buFont typeface="Wingdings" pitchFamily="2" charset="2"/>
              <a:buChar char="v"/>
            </a:pPr>
            <a:r>
              <a:rPr lang="en-GB" dirty="0" err="1" smtClean="0">
                <a:latin typeface="Power Geez Unicode3" pitchFamily="2" charset="0"/>
              </a:rPr>
              <a:t>የፕሮጀክቱ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 smtClean="0">
                <a:latin typeface="Power Geez Unicode3" pitchFamily="2" charset="0"/>
              </a:rPr>
              <a:t>ስም</a:t>
            </a:r>
            <a:r>
              <a:rPr lang="en-GB" dirty="0" smtClean="0">
                <a:latin typeface="Power Geez Unicode3" pitchFamily="2" charset="0"/>
              </a:rPr>
              <a:t>፦ </a:t>
            </a:r>
            <a:r>
              <a:rPr lang="en-GB" dirty="0" err="1" smtClean="0">
                <a:latin typeface="Power Geez Unicode3" pitchFamily="2" charset="0"/>
              </a:rPr>
              <a:t>ቤተ-ሰሊሖም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am-ET" sz="2400" b="1" dirty="0"/>
              <a:t>የማህበረሰብ ጤና ስልጠና </a:t>
            </a:r>
            <a:r>
              <a:rPr lang="am-ET" sz="2400" b="1" dirty="0" smtClean="0"/>
              <a:t>ማዕከል</a:t>
            </a:r>
            <a:endParaRPr lang="en-GB" sz="2400" b="1" dirty="0" smtClean="0"/>
          </a:p>
          <a:p>
            <a:pPr marL="685800" indent="-685800">
              <a:buFont typeface="Wingdings" pitchFamily="2" charset="2"/>
              <a:buChar char="v"/>
            </a:pPr>
            <a:r>
              <a:rPr lang="en-GB" dirty="0" err="1" smtClean="0">
                <a:latin typeface="Power Geez Unicode3" pitchFamily="2" charset="0"/>
              </a:rPr>
              <a:t>የሰነዱ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ዓይነት</a:t>
            </a:r>
            <a:r>
              <a:rPr lang="en-GB" dirty="0">
                <a:latin typeface="Power Geez Unicode3" pitchFamily="2" charset="0"/>
              </a:rPr>
              <a:t>፦ </a:t>
            </a:r>
            <a:r>
              <a:rPr lang="en-GB" dirty="0" err="1">
                <a:latin typeface="Power Geez Unicode3" pitchFamily="2" charset="0"/>
              </a:rPr>
              <a:t>የቢዝነስ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ፕላን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  <a:p>
            <a:pPr marL="685800" indent="-685800">
              <a:buFont typeface="Wingdings" pitchFamily="2" charset="2"/>
              <a:buChar char="v"/>
            </a:pPr>
            <a:r>
              <a:rPr lang="en-GB" dirty="0" err="1" smtClean="0">
                <a:latin typeface="Power Geez Unicode3" pitchFamily="2" charset="0"/>
              </a:rPr>
              <a:t>የተዘጋጀበት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 smtClean="0">
                <a:latin typeface="Power Geez Unicode3" pitchFamily="2" charset="0"/>
              </a:rPr>
              <a:t>ዓመት</a:t>
            </a:r>
            <a:r>
              <a:rPr lang="en-GB" dirty="0" smtClean="0">
                <a:latin typeface="Power Geez Unicode3" pitchFamily="2" charset="0"/>
              </a:rPr>
              <a:t>፦ </a:t>
            </a:r>
            <a:r>
              <a:rPr lang="en-GB" u="sng" dirty="0" smtClean="0">
                <a:latin typeface="Power Geez Unicode3" pitchFamily="2" charset="0"/>
                <a:hlinkClick r:id="rId2"/>
              </a:rPr>
              <a:t>2018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 smtClean="0">
                <a:latin typeface="Power Geez Unicode3" pitchFamily="2" charset="0"/>
              </a:rPr>
              <a:t>ዓ.ም</a:t>
            </a:r>
            <a:r>
              <a:rPr lang="en-GB" dirty="0" smtClean="0">
                <a:latin typeface="Power Geez Unicode3" pitchFamily="2" charset="0"/>
              </a:rPr>
              <a:t>. (</a:t>
            </a:r>
            <a:r>
              <a:rPr lang="en-GB" u="sng" dirty="0" smtClean="0">
                <a:latin typeface="Power Geez Unicode3" pitchFamily="2" charset="0"/>
                <a:hlinkClick r:id="rId3"/>
              </a:rPr>
              <a:t>2026</a:t>
            </a:r>
            <a:r>
              <a:rPr lang="en-GB" dirty="0" smtClean="0">
                <a:latin typeface="Power Geez Unicode3" pitchFamily="2" charset="0"/>
              </a:rPr>
              <a:t>/27)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479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229600" cy="1143000"/>
          </a:xfrm>
        </p:spPr>
        <p:txBody>
          <a:bodyPr>
            <a:normAutofit/>
          </a:bodyPr>
          <a:lstStyle/>
          <a:p>
            <a:r>
              <a:rPr lang="am-ET" dirty="0"/>
              <a:t>መውጫ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10445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GB" dirty="0">
              <a:latin typeface="Power Geez Unicode3" pitchFamily="2" charset="0"/>
            </a:endParaRPr>
          </a:p>
          <a:p>
            <a:r>
              <a:rPr lang="am-ET" sz="6400" b="1" dirty="0"/>
              <a:t>የአስፈጻሚ ማጠቃለያ (</a:t>
            </a:r>
            <a:r>
              <a:rPr lang="en-GB" sz="6400" b="1" dirty="0"/>
              <a:t>Executive Summary</a:t>
            </a:r>
            <a:r>
              <a:rPr lang="en-GB" sz="6400" b="1" dirty="0" smtClean="0"/>
              <a:t>)</a:t>
            </a:r>
          </a:p>
          <a:p>
            <a:r>
              <a:rPr lang="en-GB" sz="6400" b="1" dirty="0" smtClean="0"/>
              <a:t> </a:t>
            </a:r>
            <a:r>
              <a:rPr lang="am-ET" sz="6400" b="1" dirty="0" smtClean="0"/>
              <a:t>የድርጅቱ መግለጫ</a:t>
            </a:r>
            <a:endParaRPr lang="en-GB" sz="6400" b="1" dirty="0" smtClean="0"/>
          </a:p>
          <a:p>
            <a:r>
              <a:rPr lang="en-GB" sz="6400" b="1" dirty="0" smtClean="0"/>
              <a:t> 4/</a:t>
            </a:r>
            <a:r>
              <a:rPr lang="am-ET" sz="6400" b="1" dirty="0"/>
              <a:t>ራዕይ (</a:t>
            </a:r>
            <a:r>
              <a:rPr lang="en-GB" sz="6400" b="1" dirty="0"/>
              <a:t>Vision</a:t>
            </a:r>
            <a:r>
              <a:rPr lang="en-GB" sz="6400" b="1" dirty="0" smtClean="0"/>
              <a:t>)</a:t>
            </a:r>
          </a:p>
          <a:p>
            <a:r>
              <a:rPr lang="en-GB" sz="6400" b="1" dirty="0" smtClean="0"/>
              <a:t> </a:t>
            </a:r>
            <a:r>
              <a:rPr lang="am-ET" sz="6400" b="1" dirty="0" smtClean="0"/>
              <a:t>ተልዕኮ </a:t>
            </a:r>
            <a:r>
              <a:rPr lang="am-ET" sz="6400" b="1" dirty="0"/>
              <a:t>(</a:t>
            </a:r>
            <a:r>
              <a:rPr lang="en-GB" sz="6400" b="1" dirty="0"/>
              <a:t>Mission</a:t>
            </a:r>
            <a:r>
              <a:rPr lang="en-GB" sz="6400" b="1" dirty="0" smtClean="0"/>
              <a:t>)</a:t>
            </a:r>
          </a:p>
          <a:p>
            <a:r>
              <a:rPr lang="en-GB" sz="6400" b="1" dirty="0" smtClean="0"/>
              <a:t>  </a:t>
            </a:r>
            <a:r>
              <a:rPr lang="am-ET" sz="6400" b="1" dirty="0" smtClean="0"/>
              <a:t>ዓላማዎች</a:t>
            </a:r>
            <a:endParaRPr lang="en-GB" sz="6400" b="1" dirty="0" smtClean="0"/>
          </a:p>
          <a:p>
            <a:r>
              <a:rPr lang="am-ET" sz="6400" b="1" dirty="0" smtClean="0"/>
              <a:t>አገልግሎቶች</a:t>
            </a:r>
            <a:endParaRPr lang="en-GB" sz="6400" b="1" dirty="0" smtClean="0"/>
          </a:p>
          <a:p>
            <a:r>
              <a:rPr lang="am-ET" sz="6400" b="1" dirty="0" smtClean="0"/>
              <a:t>የገቢያ ጥናት</a:t>
            </a:r>
            <a:endParaRPr lang="en-GB" sz="6400" b="1" dirty="0" smtClean="0"/>
          </a:p>
          <a:p>
            <a:r>
              <a:rPr lang="am-ET" sz="6400" b="1" dirty="0" smtClean="0"/>
              <a:t>ገበያ </a:t>
            </a:r>
            <a:r>
              <a:rPr lang="am-ET" sz="6400" b="1" dirty="0"/>
              <a:t>እና የሽያጭ </a:t>
            </a:r>
            <a:r>
              <a:rPr lang="am-ET" sz="6400" b="1" dirty="0" smtClean="0"/>
              <a:t>ስትራቴጂ</a:t>
            </a:r>
            <a:endParaRPr lang="en-GB" sz="6400" b="1" dirty="0" smtClean="0"/>
          </a:p>
          <a:p>
            <a:r>
              <a:rPr lang="am-ET" sz="6400" b="1" dirty="0" smtClean="0"/>
              <a:t>ድርጅቱ </a:t>
            </a:r>
            <a:r>
              <a:rPr lang="am-ET" sz="6400" b="1" dirty="0"/>
              <a:t>መዋቅር (የሰራተኞች መዋቅር</a:t>
            </a:r>
            <a:r>
              <a:rPr lang="am-ET" sz="6400" b="1" dirty="0" smtClean="0"/>
              <a:t>)</a:t>
            </a:r>
            <a:endParaRPr lang="en-GB" sz="6400" b="1" dirty="0" smtClean="0"/>
          </a:p>
          <a:p>
            <a:r>
              <a:rPr lang="am-ET" sz="6400" b="1" dirty="0" smtClean="0"/>
              <a:t>የስራ </a:t>
            </a:r>
            <a:r>
              <a:rPr lang="am-ET" sz="6400" b="1" dirty="0"/>
              <a:t>ማስከጃ ዕቅድ </a:t>
            </a:r>
            <a:endParaRPr lang="en-GB" sz="6400" b="1" dirty="0" smtClean="0"/>
          </a:p>
          <a:p>
            <a:r>
              <a:rPr lang="am-ET" sz="6400" b="1" dirty="0" smtClean="0"/>
              <a:t>የአፈጻጸም </a:t>
            </a:r>
            <a:r>
              <a:rPr lang="am-ET" sz="6400" b="1" dirty="0"/>
              <a:t>መለኪያዎች (</a:t>
            </a:r>
            <a:r>
              <a:rPr lang="en-GB" sz="6400" b="1" dirty="0"/>
              <a:t>KPIs</a:t>
            </a:r>
            <a:r>
              <a:rPr lang="en-GB" sz="6400" b="1" dirty="0" smtClean="0"/>
              <a:t>)</a:t>
            </a:r>
          </a:p>
          <a:p>
            <a:r>
              <a:rPr lang="am-ET" sz="6400" b="1" dirty="0" smtClean="0"/>
              <a:t>የመጀመሪያ ካፒታል</a:t>
            </a:r>
            <a:endParaRPr lang="en-GB" sz="6400" b="1" dirty="0" smtClean="0"/>
          </a:p>
          <a:p>
            <a:r>
              <a:rPr lang="en-GB" sz="6400" b="1" dirty="0" smtClean="0"/>
              <a:t>SWOT </a:t>
            </a:r>
            <a:r>
              <a:rPr lang="am-ET" sz="6400" b="1" dirty="0" smtClean="0"/>
              <a:t>ትን</a:t>
            </a:r>
            <a:endParaRPr lang="en-GB" sz="6400" b="1" dirty="0" smtClean="0"/>
          </a:p>
          <a:p>
            <a:r>
              <a:rPr lang="am-ET" sz="6400" b="1" dirty="0" smtClean="0"/>
              <a:t>የ5 </a:t>
            </a:r>
            <a:r>
              <a:rPr lang="am-ET" sz="6400" b="1" dirty="0"/>
              <a:t>ዓመት </a:t>
            </a:r>
            <a:endParaRPr lang="en-GB" sz="6400" b="1" dirty="0" smtClean="0"/>
          </a:p>
          <a:p>
            <a:r>
              <a:rPr lang="am-ET" sz="6400" b="1" dirty="0" smtClean="0"/>
              <a:t>መደምደምያ</a:t>
            </a:r>
            <a:endParaRPr lang="en-GB" sz="6400" b="1" dirty="0" smtClean="0"/>
          </a:p>
          <a:p>
            <a:r>
              <a:rPr lang="am-ET" sz="6400" b="1" dirty="0" smtClean="0"/>
              <a:t>አባሪዎች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44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>
                <a:latin typeface="Power Geez Unicode3" pitchFamily="2" charset="0"/>
              </a:rPr>
              <a:t>1/</a:t>
            </a:r>
            <a:r>
              <a:rPr lang="en-GB" b="1" dirty="0" smtClean="0">
                <a:latin typeface="Power Geez Unicode3" pitchFamily="2" charset="0"/>
              </a:rPr>
              <a:t> </a:t>
            </a:r>
            <a:r>
              <a:rPr lang="am-ET" dirty="0" smtClean="0"/>
              <a:t>የአስፈጻሚ </a:t>
            </a:r>
            <a:r>
              <a:rPr lang="am-ET" dirty="0"/>
              <a:t>ማጠቃለያ (</a:t>
            </a:r>
            <a:r>
              <a:rPr lang="en-GB" dirty="0"/>
              <a:t>Executive Summary)</a:t>
            </a:r>
            <a:endParaRPr lang="en-GB" b="1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400" b="1" dirty="0" err="1" smtClean="0">
                <a:latin typeface="Power Geez Unicode3" pitchFamily="2" charset="0"/>
              </a:rPr>
              <a:t>ቤተ-ሰሊሖም</a:t>
            </a:r>
            <a:r>
              <a:rPr lang="en-GB" sz="1400" b="1" dirty="0" smtClean="0">
                <a:latin typeface="Power Geez Unicode3" pitchFamily="2" charset="0"/>
              </a:rPr>
              <a:t> </a:t>
            </a:r>
            <a:r>
              <a:rPr lang="am-ET" sz="1400" b="1" dirty="0" smtClean="0"/>
              <a:t>የማህበረሰብ </a:t>
            </a:r>
            <a:r>
              <a:rPr lang="am-ET" sz="1400" b="1" dirty="0"/>
              <a:t>ጤና ስልጠና ማዕከል በመላኩ ሱርማ የተመሰረተ የግል ድርጅት ሲሆን፣ </a:t>
            </a:r>
            <a:endParaRPr lang="en-GB" sz="1400" b="1" dirty="0"/>
          </a:p>
          <a:p>
            <a:r>
              <a:rPr lang="en-GB" sz="2000" b="1" dirty="0" smtClean="0">
                <a:latin typeface="Power Geez Unicode3" pitchFamily="2" charset="0"/>
              </a:rPr>
              <a:t>1/ </a:t>
            </a:r>
            <a:r>
              <a:rPr lang="am-ET" sz="2000" b="1" dirty="0" smtClean="0"/>
              <a:t>ዋና </a:t>
            </a:r>
            <a:r>
              <a:rPr lang="en-GB" sz="2000" b="1" dirty="0" smtClean="0">
                <a:latin typeface="Power Geez Unicode3" pitchFamily="2" charset="0"/>
              </a:rPr>
              <a:t> </a:t>
            </a:r>
            <a:r>
              <a:rPr lang="am-ET" sz="2000" b="1" dirty="0" smtClean="0"/>
              <a:t>ዓላማው </a:t>
            </a:r>
            <a:endParaRPr lang="en-GB" sz="2000" b="1" dirty="0" smtClean="0"/>
          </a:p>
          <a:p>
            <a:r>
              <a:rPr lang="am-ET" sz="1400" b="1" dirty="0" smtClean="0"/>
              <a:t>በማህበረሰብ </a:t>
            </a:r>
            <a:r>
              <a:rPr lang="am-ET" sz="1400" b="1" dirty="0"/>
              <a:t>ጤና ዘርፍ የሙያ ስልጠና፣ የማማከር እና የምርምር አገልግሎት መስጠት ነው።</a:t>
            </a:r>
            <a:r>
              <a:rPr lang="am-ET" sz="1400" b="1" dirty="0"/>
              <a:t/>
            </a:r>
            <a:br>
              <a:rPr lang="am-ET" sz="1400" b="1" dirty="0"/>
            </a:br>
            <a:r>
              <a:rPr lang="am-ET" sz="1400" b="1" dirty="0"/>
              <a:t>ድርጅቱ በ</a:t>
            </a:r>
            <a:r>
              <a:rPr lang="am-ET" sz="1400" b="1" dirty="0">
                <a:hlinkClick r:id="rId2"/>
              </a:rPr>
              <a:t>100</a:t>
            </a:r>
            <a:r>
              <a:rPr lang="am-ET" sz="1400" b="1" dirty="0"/>
              <a:t>,</a:t>
            </a:r>
            <a:r>
              <a:rPr lang="am-ET" sz="1400" b="1" dirty="0">
                <a:hlinkClick r:id="rId3"/>
              </a:rPr>
              <a:t>000</a:t>
            </a:r>
            <a:r>
              <a:rPr lang="am-ET" sz="1400" b="1" dirty="0"/>
              <a:t> ብር መነሻ ካፒታል ተመስርቶ በወረዳና በከተማ አስተዳደር ደረጃ </a:t>
            </a:r>
            <a:r>
              <a:rPr lang="am-ET" sz="1400" b="1" dirty="0" smtClean="0"/>
              <a:t>ለመስራት </a:t>
            </a:r>
            <a:r>
              <a:rPr lang="am-ET" sz="1400" b="1" dirty="0"/>
              <a:t>ታቅዷል</a:t>
            </a:r>
            <a:r>
              <a:rPr lang="am-ET" sz="1400" b="1" dirty="0" smtClean="0"/>
              <a:t>።</a:t>
            </a:r>
            <a:endParaRPr lang="en-GB" sz="1400" b="1" dirty="0" smtClean="0">
              <a:latin typeface="Power Geez Unicode3" pitchFamily="2" charset="0"/>
            </a:endParaRPr>
          </a:p>
          <a:p>
            <a:r>
              <a:rPr lang="am-ET" sz="2000" b="1" dirty="0"/>
              <a:t>2/የድርጅቱ መግለጫ</a:t>
            </a:r>
            <a:r>
              <a:rPr lang="am-ET" sz="2000" b="1" dirty="0"/>
              <a:t/>
            </a:r>
            <a:br>
              <a:rPr lang="am-ET" sz="2000" b="1" dirty="0"/>
            </a:br>
            <a:r>
              <a:rPr lang="am-ET" sz="1400" b="1" dirty="0"/>
              <a:t>የድርጅቱ ስም: ቤተ ሰልሖም የማህበረሰብ ጤና ስልጠና ማዕከል</a:t>
            </a:r>
            <a:r>
              <a:rPr lang="am-ET" sz="1400" b="1" dirty="0"/>
              <a:t/>
            </a:r>
            <a:br>
              <a:rPr lang="am-ET" sz="1400" b="1" dirty="0"/>
            </a:br>
            <a:r>
              <a:rPr lang="am-ET" sz="1400" b="1" dirty="0"/>
              <a:t>የድርጅቱ ዓይነት: የግል የስልጠናና የምክር አገልግሎት </a:t>
            </a:r>
            <a:r>
              <a:rPr lang="am-ET" sz="1400" b="1" dirty="0" smtClean="0"/>
              <a:t>ድርጅት</a:t>
            </a:r>
            <a:endParaRPr lang="en-GB" sz="1400" b="1" dirty="0" smtClean="0"/>
          </a:p>
          <a:p>
            <a:r>
              <a:rPr lang="am-ET" sz="1400" b="1" dirty="0" smtClean="0"/>
              <a:t>ዓላማ</a:t>
            </a:r>
            <a:r>
              <a:rPr lang="am-ET" sz="1400" b="1" dirty="0"/>
              <a:t>: ለጤና ባለሙያዎች፣ ለተማሪዎች፣ ለ</a:t>
            </a:r>
            <a:r>
              <a:rPr lang="en-GB" sz="1400" b="1" dirty="0">
                <a:latin typeface="Power Geez Unicode3" pitchFamily="2" charset="0"/>
              </a:rPr>
              <a:t>NGO</a:t>
            </a:r>
            <a:r>
              <a:rPr lang="am-ET" sz="1400" b="1" dirty="0"/>
              <a:t>ዎች እና ለማህበረሰቡ ጥራት ያለው የጤና ስልጠና መስጠት</a:t>
            </a:r>
            <a:r>
              <a:rPr lang="am-ET" sz="1400" b="1" dirty="0" smtClean="0"/>
              <a:t>።</a:t>
            </a:r>
            <a:endParaRPr lang="en-GB" sz="1400" b="1" dirty="0" smtClean="0"/>
          </a:p>
          <a:p>
            <a:r>
              <a:rPr lang="am-ET" sz="2000" b="1" dirty="0"/>
              <a:t>3/ራዕይ (</a:t>
            </a:r>
            <a:r>
              <a:rPr lang="en-GB" sz="2000" b="1" dirty="0"/>
              <a:t>Vision</a:t>
            </a:r>
            <a:r>
              <a:rPr lang="en-GB" sz="1400" dirty="0"/>
              <a:t>)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am-ET" sz="1400" dirty="0"/>
              <a:t>በኢትዮጵያ በማህበረሰብ ጤና ስልጠና ዘርፍ መሪ ተቋም መሆን።</a:t>
            </a:r>
            <a:r>
              <a:rPr lang="am-ET" sz="1400" dirty="0"/>
              <a:t/>
            </a:r>
            <a:br>
              <a:rPr lang="am-ET" sz="1400" dirty="0"/>
            </a:br>
            <a:r>
              <a:rPr lang="en-GB" sz="2000" b="1" dirty="0" smtClean="0">
                <a:latin typeface="Power Geez Unicode3" pitchFamily="2" charset="0"/>
              </a:rPr>
              <a:t>4</a:t>
            </a:r>
            <a:r>
              <a:rPr lang="en-GB" sz="2000" b="1" dirty="0">
                <a:latin typeface="Power Geez Unicode3" pitchFamily="2" charset="0"/>
              </a:rPr>
              <a:t>. </a:t>
            </a:r>
            <a:r>
              <a:rPr lang="am-ET" sz="2000" b="1" dirty="0"/>
              <a:t>ተልዕኮ (</a:t>
            </a:r>
            <a:r>
              <a:rPr lang="en-GB" sz="2000" b="1" dirty="0">
                <a:latin typeface="Power Geez Unicode3" pitchFamily="2" charset="0"/>
              </a:rPr>
              <a:t>Mission</a:t>
            </a:r>
            <a:r>
              <a:rPr lang="en-GB" sz="1400" dirty="0"/>
              <a:t>)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am-ET" sz="1400" dirty="0"/>
              <a:t>ለጤና ባለሙያዎችና ለማህበረሰቡ ተግባራዊ፣ ዘመናዊ እና ተመጣጣኝ የጤና ስልጠና መስጠት።</a:t>
            </a:r>
            <a:r>
              <a:rPr lang="am-ET" sz="1400" dirty="0"/>
              <a:t/>
            </a:r>
            <a:br>
              <a:rPr lang="am-ET" sz="1400" dirty="0"/>
            </a:br>
            <a:r>
              <a:rPr lang="en-GB" sz="2000" b="1" dirty="0" smtClean="0">
                <a:latin typeface="Power Geez Unicode3" pitchFamily="2" charset="0"/>
              </a:rPr>
              <a:t>5</a:t>
            </a:r>
            <a:r>
              <a:rPr lang="en-GB" sz="2000" b="1" dirty="0">
                <a:latin typeface="Power Geez Unicode3" pitchFamily="2" charset="0"/>
              </a:rPr>
              <a:t>. </a:t>
            </a:r>
            <a:r>
              <a:rPr lang="am-ET" sz="2000" b="1" dirty="0"/>
              <a:t>ዓላማዎች</a:t>
            </a:r>
            <a:r>
              <a:rPr lang="am-ET" sz="1400" dirty="0"/>
              <a:t/>
            </a:r>
            <a:br>
              <a:rPr lang="am-ET" sz="1400" dirty="0"/>
            </a:br>
            <a:r>
              <a:rPr lang="am-ET" sz="1400" dirty="0"/>
              <a:t>በመጀመሪያ ዓመት </a:t>
            </a:r>
            <a:r>
              <a:rPr lang="am-ET" sz="1400" dirty="0">
                <a:hlinkClick r:id="rId4"/>
              </a:rPr>
              <a:t>300</a:t>
            </a:r>
            <a:r>
              <a:rPr lang="am-ET" sz="1400" dirty="0"/>
              <a:t> ተሳታፊዎችን ማሰልጠን።</a:t>
            </a:r>
            <a:r>
              <a:rPr lang="am-ET" sz="1400" dirty="0"/>
              <a:t/>
            </a:r>
            <a:br>
              <a:rPr lang="am-ET" sz="1400" dirty="0"/>
            </a:br>
            <a:r>
              <a:rPr lang="am-ET" sz="1400" dirty="0"/>
              <a:t>ከ10 በላይ የጤና ተቋማት ጋር ሽርክና መፍጠር።</a:t>
            </a:r>
            <a:r>
              <a:rPr lang="am-ET" sz="1400" dirty="0"/>
              <a:t/>
            </a:r>
            <a:br>
              <a:rPr lang="am-ET" sz="1400" dirty="0"/>
            </a:br>
            <a:r>
              <a:rPr lang="am-ET" sz="1400" dirty="0"/>
              <a:t>በ3 ዓመት ውስጥ በብዙ ክልሎች አገልግሎት መስጠት።</a:t>
            </a:r>
            <a:endParaRPr lang="en-GB" sz="1400" b="1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13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2 </a:t>
            </a:r>
            <a:r>
              <a:rPr lang="am-ET" dirty="0" smtClean="0"/>
              <a:t>/አገልግሎቶች</a:t>
            </a:r>
            <a:endParaRPr lang="en-GB" b="1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am-ET" sz="2800" dirty="0"/>
              <a:t>የማህበረሰብ ጤና </a:t>
            </a:r>
            <a:r>
              <a:rPr lang="am-ET" sz="2800" dirty="0" smtClean="0"/>
              <a:t>ስልጠና</a:t>
            </a:r>
            <a:endParaRPr lang="en-GB" sz="2800" dirty="0" smtClean="0">
              <a:latin typeface="Power Geez Unicode3" pitchFamily="2" charset="0"/>
            </a:endParaRPr>
          </a:p>
          <a:p>
            <a:r>
              <a:rPr lang="am-ET" sz="2800" dirty="0" smtClean="0"/>
              <a:t>የመጀመሪያ </a:t>
            </a:r>
            <a:r>
              <a:rPr lang="am-ET" sz="2800" dirty="0"/>
              <a:t>እርዳታ (</a:t>
            </a:r>
            <a:r>
              <a:rPr lang="en-GB" sz="2800" dirty="0">
                <a:latin typeface="Power Geez Unicode3" pitchFamily="2" charset="0"/>
              </a:rPr>
              <a:t>First </a:t>
            </a:r>
            <a:r>
              <a:rPr lang="en-GB" sz="2800" dirty="0" smtClean="0">
                <a:latin typeface="Power Geez Unicode3" pitchFamily="2" charset="0"/>
              </a:rPr>
              <a:t>Aid)</a:t>
            </a:r>
          </a:p>
          <a:p>
            <a:r>
              <a:rPr lang="en-GB" sz="2800" dirty="0" smtClean="0">
                <a:latin typeface="Power Geez Unicode3" pitchFamily="2" charset="0"/>
              </a:rPr>
              <a:t>Basic </a:t>
            </a:r>
            <a:r>
              <a:rPr lang="en-GB" sz="2800" dirty="0">
                <a:latin typeface="Power Geez Unicode3" pitchFamily="2" charset="0"/>
              </a:rPr>
              <a:t>Life Support (</a:t>
            </a:r>
            <a:r>
              <a:rPr lang="en-GB" sz="2800" dirty="0" smtClean="0">
                <a:latin typeface="Power Geez Unicode3" pitchFamily="2" charset="0"/>
              </a:rPr>
              <a:t>BLS)</a:t>
            </a:r>
          </a:p>
          <a:p>
            <a:r>
              <a:rPr lang="en-GB" sz="2800" dirty="0" smtClean="0">
                <a:latin typeface="Power Geez Unicode3" pitchFamily="2" charset="0"/>
              </a:rPr>
              <a:t>CPR </a:t>
            </a:r>
            <a:r>
              <a:rPr lang="am-ET" sz="2800" dirty="0" smtClean="0"/>
              <a:t>ስልጠና</a:t>
            </a:r>
            <a:endParaRPr lang="en-GB" sz="2800" dirty="0" smtClean="0">
              <a:latin typeface="Power Geez Unicode3" pitchFamily="2" charset="0"/>
            </a:endParaRPr>
          </a:p>
          <a:p>
            <a:r>
              <a:rPr lang="am-ET" sz="2800" dirty="0" smtClean="0"/>
              <a:t>የእናትና </a:t>
            </a:r>
            <a:r>
              <a:rPr lang="am-ET" sz="2800" dirty="0"/>
              <a:t>ሕፃናት </a:t>
            </a:r>
            <a:r>
              <a:rPr lang="am-ET" sz="2800" dirty="0" smtClean="0"/>
              <a:t>ጤና</a:t>
            </a:r>
            <a:endParaRPr lang="en-GB" sz="2800" dirty="0" smtClean="0">
              <a:latin typeface="Power Geez Unicode3" pitchFamily="2" charset="0"/>
            </a:endParaRPr>
          </a:p>
          <a:p>
            <a:r>
              <a:rPr lang="am-ET" sz="2800" dirty="0" smtClean="0"/>
              <a:t>የምግብና </a:t>
            </a:r>
            <a:r>
              <a:rPr lang="am-ET" sz="2800" dirty="0"/>
              <a:t>ንጽህና </a:t>
            </a:r>
            <a:r>
              <a:rPr lang="am-ET" sz="2800" dirty="0" smtClean="0"/>
              <a:t>ስልጠና</a:t>
            </a:r>
            <a:endParaRPr lang="en-GB" sz="2800" dirty="0" smtClean="0">
              <a:latin typeface="Power Geez Unicode3" pitchFamily="2" charset="0"/>
            </a:endParaRPr>
          </a:p>
          <a:p>
            <a:r>
              <a:rPr lang="am-ET" sz="2800" dirty="0" smtClean="0"/>
              <a:t>የጤና </a:t>
            </a:r>
            <a:r>
              <a:rPr lang="am-ET" sz="2800" dirty="0"/>
              <a:t>ፕሮጀክት </a:t>
            </a:r>
            <a:r>
              <a:rPr lang="am-ET" sz="2800" dirty="0" smtClean="0"/>
              <a:t>ማማከር</a:t>
            </a:r>
            <a:endParaRPr lang="en-GB" sz="2800" dirty="0" smtClean="0">
              <a:latin typeface="Power Geez Unicode3" pitchFamily="2" charset="0"/>
            </a:endParaRPr>
          </a:p>
          <a:p>
            <a:r>
              <a:rPr lang="am-ET" sz="2800" dirty="0" smtClean="0"/>
              <a:t>የምርምር </a:t>
            </a:r>
            <a:r>
              <a:rPr lang="am-ET" sz="2800" dirty="0"/>
              <a:t>እና የዳታ ትንተና</a:t>
            </a:r>
            <a:endParaRPr lang="en-GB" sz="2800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0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3</a:t>
            </a:r>
            <a:r>
              <a:rPr lang="am-ET" dirty="0" smtClean="0"/>
              <a:t>/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am-ET" dirty="0" smtClean="0"/>
              <a:t>የገቢያ </a:t>
            </a:r>
            <a:r>
              <a:rPr lang="am-ET" dirty="0"/>
              <a:t>ጥናት</a:t>
            </a:r>
            <a:br>
              <a:rPr lang="am-ET" dirty="0"/>
            </a:br>
            <a:endParaRPr lang="en-GB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የገበያ ትንተና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ደንበኞች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ጤና ባለሙያዎች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የጤና ተማሪዎች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መንግስታዊ ተቋማት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sz="1600" b="1" dirty="0" smtClean="0">
                <a:latin typeface="Power Geez Unicode3" pitchFamily="2" charset="0"/>
              </a:rPr>
              <a:t>NGO</a:t>
            </a:r>
            <a:r>
              <a:rPr lang="am-ET" sz="1600" b="1" dirty="0" smtClean="0"/>
              <a:t>ዎች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የግል </a:t>
            </a:r>
            <a:r>
              <a:rPr lang="am-ET" sz="1600" b="1" dirty="0"/>
              <a:t>ጤና </a:t>
            </a:r>
            <a:r>
              <a:rPr lang="am-ET" sz="1600" b="1" dirty="0" smtClean="0"/>
              <a:t>ተቋማት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ተፎካካሪዎች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የግል </a:t>
            </a:r>
            <a:r>
              <a:rPr lang="am-ET" sz="1600" b="1" dirty="0"/>
              <a:t>ስልጠና </a:t>
            </a:r>
            <a:r>
              <a:rPr lang="am-ET" sz="1600" b="1" dirty="0" smtClean="0"/>
              <a:t>ማዕከላት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ዩኒቨርሲቲዎች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የመንግስት </a:t>
            </a:r>
            <a:r>
              <a:rPr lang="am-ET" sz="1600" b="1" dirty="0"/>
              <a:t>የስልጠና </a:t>
            </a:r>
            <a:r>
              <a:rPr lang="am-ET" sz="1600" b="1" dirty="0" smtClean="0"/>
              <a:t>ማዕከላት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የእርስዎ ጥንካሬ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ተግባራዊ ስልጠና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የምስክር ወረቀት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የመስክ ልምድ</a:t>
            </a:r>
            <a:endParaRPr lang="en-GB" sz="16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am-ET" sz="1600" b="1" dirty="0" smtClean="0"/>
              <a:t>የኦንላይን </a:t>
            </a:r>
            <a:r>
              <a:rPr lang="am-ET" sz="1600" b="1" dirty="0"/>
              <a:t>እና የፊት ለፊት ስልጠና</a:t>
            </a:r>
            <a:endParaRPr lang="en-GB" sz="1600" b="1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10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4 </a:t>
            </a:r>
            <a:r>
              <a:rPr lang="am-ET" sz="4000" b="1" dirty="0" smtClean="0"/>
              <a:t>/</a:t>
            </a:r>
            <a:r>
              <a:rPr lang="en-GB" sz="4000" b="1" dirty="0" smtClean="0"/>
              <a:t> </a:t>
            </a:r>
            <a:r>
              <a:rPr lang="am-ET" sz="4000" b="1" dirty="0" smtClean="0"/>
              <a:t>የገበያ </a:t>
            </a:r>
            <a:r>
              <a:rPr lang="am-ET" sz="4000" b="1" dirty="0"/>
              <a:t>እና የሽያጭ ስትራቴጂ</a:t>
            </a:r>
            <a:endParaRPr lang="en-GB" sz="4000" b="1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am-ET" b="1" dirty="0"/>
              <a:t>የግብይት ስትራቴጂ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✓ፌስቡክ እና ቴሌግራም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✓ድረ-ገጽ ማቋቋም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✓ከ</a:t>
            </a:r>
            <a:r>
              <a:rPr lang="en-GB" b="1" dirty="0">
                <a:latin typeface="Power Geez Unicode3" pitchFamily="2" charset="0"/>
              </a:rPr>
              <a:t>NGO</a:t>
            </a:r>
            <a:r>
              <a:rPr lang="am-ET" b="1" dirty="0"/>
              <a:t>ዎች ጋር ሽርክና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✓የነፃ ሴሚናር ማዘጋጀት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✓በሬዲዮና በቴሌቪዥን ማስታወቂያ</a:t>
            </a:r>
            <a:endParaRPr lang="am-ET" b="1" dirty="0" smtClean="0"/>
          </a:p>
        </p:txBody>
      </p:sp>
    </p:spTree>
    <p:extLst>
      <p:ext uri="{BB962C8B-B14F-4D97-AF65-F5344CB8AC3E}">
        <p14:creationId xmlns:p14="http://schemas.microsoft.com/office/powerpoint/2010/main" val="422115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5 </a:t>
            </a:r>
            <a:r>
              <a:rPr lang="am-ET" b="1" dirty="0" smtClean="0"/>
              <a:t>/</a:t>
            </a:r>
            <a:r>
              <a:rPr lang="en-GB" b="1" dirty="0" smtClean="0"/>
              <a:t> </a:t>
            </a:r>
            <a:r>
              <a:rPr lang="am-ET" b="1" dirty="0" smtClean="0"/>
              <a:t>የድርጅቱ </a:t>
            </a:r>
            <a:r>
              <a:rPr lang="am-ET" b="1" dirty="0"/>
              <a:t>መዋቅር</a:t>
            </a:r>
            <a:endParaRPr lang="en-GB" b="1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m-ET" b="1" dirty="0"/>
              <a:t>የሰራተኞች </a:t>
            </a:r>
            <a:r>
              <a:rPr lang="am-ET" b="1" dirty="0" smtClean="0"/>
              <a:t>መዋቅር</a:t>
            </a:r>
            <a:endParaRPr lang="en-GB" b="1" dirty="0">
              <a:latin typeface="Power Geez Unicode3" pitchFamily="2" charset="0"/>
            </a:endParaRPr>
          </a:p>
          <a:p>
            <a:pPr>
              <a:buFont typeface="Wingdings" pitchFamily="2" charset="2"/>
              <a:buChar char="ü"/>
            </a:pPr>
            <a:r>
              <a:rPr lang="am-ET" b="1" dirty="0" smtClean="0"/>
              <a:t>ዋና </a:t>
            </a:r>
            <a:r>
              <a:rPr lang="am-ET" b="1" dirty="0"/>
              <a:t>ሥራ </a:t>
            </a:r>
            <a:r>
              <a:rPr lang="am-ET" b="1" dirty="0" smtClean="0"/>
              <a:t>አስኪያጅ</a:t>
            </a:r>
            <a:endParaRPr lang="en-GB" b="1" dirty="0" smtClean="0">
              <a:latin typeface="Power Geez Unicode3" pitchFamily="2" charset="0"/>
            </a:endParaRPr>
          </a:p>
          <a:p>
            <a:pPr marL="0" indent="0">
              <a:buNone/>
            </a:pPr>
            <a:r>
              <a:rPr lang="am-ET" b="1" dirty="0" smtClean="0"/>
              <a:t>✓</a:t>
            </a:r>
            <a:r>
              <a:rPr lang="am-ET" b="1" dirty="0"/>
              <a:t>የስልጠና አስተባባሪ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✓አሰልጣኞች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✓የፋይናንስ ሰራተኛ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✓ጸሐፊ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✓የገበያ ልማት ባለሙያ</a:t>
            </a:r>
            <a:endParaRPr lang="en-GB" b="1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62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6</a:t>
            </a:r>
            <a:r>
              <a:rPr lang="am-ET" b="1" dirty="0" smtClean="0"/>
              <a:t>/</a:t>
            </a:r>
            <a:r>
              <a:rPr lang="en-GB" b="1" dirty="0" smtClean="0">
                <a:latin typeface="Power Geez Unicode3" pitchFamily="2" charset="0"/>
              </a:rPr>
              <a:t> </a:t>
            </a:r>
            <a:r>
              <a:rPr lang="am-ET" b="1" dirty="0" smtClean="0"/>
              <a:t>የስራ </a:t>
            </a:r>
            <a:r>
              <a:rPr lang="am-ET" b="1" dirty="0"/>
              <a:t>ማስከጃ ዕቅድ</a:t>
            </a:r>
            <a:endParaRPr lang="en-GB" b="1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am-ET" b="1" dirty="0"/>
              <a:t>የመጀመሪያ 3 ወራት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✓የንግድ ፈቃድ ማውጣት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✓ቢሮ ማዘጋጀት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✓የስልጠና ቁሳቁሶች መግዛት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✓የሰራተኞች </a:t>
            </a:r>
            <a:r>
              <a:rPr lang="am-ET" dirty="0" smtClean="0"/>
              <a:t>ቅጥር</a:t>
            </a:r>
            <a:endParaRPr lang="en-GB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v"/>
            </a:pPr>
            <a:r>
              <a:rPr lang="am-ET" b="1" dirty="0" smtClean="0"/>
              <a:t>ከ4–6 </a:t>
            </a:r>
            <a:r>
              <a:rPr lang="am-ET" b="1" dirty="0"/>
              <a:t>ወራት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✓የመጀመሪያ ስልጠናዎችን መጀመር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✓የማስታወቂያ ዘመቻ ማካሄድ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✓ከጤና ተቋማትና </a:t>
            </a:r>
            <a:r>
              <a:rPr lang="en-GB" dirty="0">
                <a:latin typeface="Power Geez Unicode3" pitchFamily="2" charset="0"/>
              </a:rPr>
              <a:t>NGO</a:t>
            </a:r>
            <a:r>
              <a:rPr lang="am-ET" dirty="0"/>
              <a:t>ዎች ጋር ስምምነት </a:t>
            </a:r>
            <a:r>
              <a:rPr lang="am-ET" dirty="0" smtClean="0"/>
              <a:t>መፍጠር</a:t>
            </a:r>
            <a:endParaRPr lang="en-GB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v"/>
            </a:pPr>
            <a:r>
              <a:rPr lang="am-ET" b="1" dirty="0" smtClean="0"/>
              <a:t>ከ6–12 </a:t>
            </a:r>
            <a:r>
              <a:rPr lang="am-ET" b="1" dirty="0"/>
              <a:t>ወራት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✓የኦንላይን ስልጠና መጀመር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✓የስልጠና ተሳታፊዎችን ቁጥር ማሳደግ</a:t>
            </a:r>
            <a:r>
              <a:rPr lang="am-ET" dirty="0"/>
              <a:t/>
            </a:r>
            <a:br>
              <a:rPr lang="am-ET" dirty="0"/>
            </a:br>
            <a:r>
              <a:rPr lang="am-ET" dirty="0"/>
              <a:t>✓የአፈጻጸም ግምገማ ማድረግ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88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7</a:t>
            </a:r>
            <a:r>
              <a:rPr lang="am-ET" b="1" dirty="0" smtClean="0"/>
              <a:t>. </a:t>
            </a:r>
            <a:r>
              <a:rPr lang="am-ET" b="1" dirty="0"/>
              <a:t>የአፈጻጸም መለኪያዎች (</a:t>
            </a:r>
            <a:r>
              <a:rPr lang="en-GB" b="1" dirty="0">
                <a:latin typeface="Power Geez Unicode3" pitchFamily="2" charset="0"/>
              </a:rPr>
              <a:t>KPIs)</a:t>
            </a:r>
            <a:endParaRPr lang="en-GB" b="1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am-ET" b="1" dirty="0"/>
              <a:t>በዓመት የሚሰለጥኑ ሰዎች ብዛት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✓የደንበኛ እርካታ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✓የገቢ እድገት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✓የሽርክና ብዛት</a:t>
            </a:r>
            <a:r>
              <a:rPr lang="am-ET" b="1" dirty="0"/>
              <a:t/>
            </a:r>
            <a:br>
              <a:rPr lang="am-ET" b="1" dirty="0"/>
            </a:br>
            <a:r>
              <a:rPr lang="am-ET" b="1" dirty="0"/>
              <a:t>✓የምስክር ወረቀት ተቀባዮች </a:t>
            </a:r>
            <a:r>
              <a:rPr lang="am-ET" b="1" dirty="0" smtClean="0"/>
              <a:t>ብዛት</a:t>
            </a:r>
            <a:endParaRPr lang="en-GB" b="1" dirty="0" smtClean="0">
              <a:latin typeface="Power Geez Unicode3" pitchFamily="2" charset="0"/>
            </a:endParaRP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006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8</a:t>
            </a:r>
            <a:r>
              <a:rPr lang="am-ET" b="1" dirty="0" smtClean="0"/>
              <a:t> </a:t>
            </a:r>
            <a:r>
              <a:rPr lang="en-GB" b="1" dirty="0" smtClean="0">
                <a:latin typeface="Power Geez Unicode3" pitchFamily="2" charset="0"/>
              </a:rPr>
              <a:t>/ </a:t>
            </a:r>
            <a:r>
              <a:rPr lang="am-ET" b="1" dirty="0" smtClean="0"/>
              <a:t>የመጀመሪያ </a:t>
            </a:r>
            <a:r>
              <a:rPr lang="am-ET" b="1" dirty="0"/>
              <a:t>ካፒታል </a:t>
            </a:r>
            <a:r>
              <a:rPr lang="am-ET" b="1" dirty="0" smtClean="0"/>
              <a:t>የገቢ </a:t>
            </a:r>
            <a:r>
              <a:rPr lang="am-ET" b="1" dirty="0"/>
              <a:t>ትንበያ </a:t>
            </a:r>
            <a:endParaRPr lang="en-GB" b="1" dirty="0">
              <a:latin typeface="Power Geez Unicode3" pitchFamily="2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600493"/>
              </p:ext>
            </p:extLst>
          </p:nvPr>
        </p:nvGraphicFramePr>
        <p:xfrm>
          <a:off x="457200" y="1600200"/>
          <a:ext cx="8291265" cy="4887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416"/>
                <a:gridCol w="1871010"/>
                <a:gridCol w="2628716"/>
                <a:gridCol w="1836978"/>
                <a:gridCol w="1296145"/>
              </a:tblGrid>
              <a:tr h="735827"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ዓመት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የገቢ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ግምት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ብር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የወጪ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ግምት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ብር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የወጪ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ግምት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ብር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 smtClean="0">
                        <a:latin typeface="Power Geez Unicode3" pitchFamily="2" charset="0"/>
                      </a:endParaRPr>
                    </a:p>
                    <a:p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የተጣራ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ትርፍ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ብር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</a:tr>
              <a:tr h="426313"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1ኛ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500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ብር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ቢሮ ኪራይ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120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486873"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2ኛ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500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የቢሮ ዕቃዎች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180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735827"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3ኛ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ብር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ኮምፒውተርና ፕሮጀክተር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250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dirty="0" smtClean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7358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ኛ</a:t>
                      </a:r>
                      <a:endParaRPr lang="en-GB" dirty="0" smtClean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ጠቅላላ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=8,000,000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የስልጠና ቁሳቁሶች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150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426313">
                <a:tc>
                  <a:txBody>
                    <a:bodyPr/>
                    <a:lstStyle/>
                    <a:p>
                      <a:r>
                        <a:rPr lang="en-GB" dirty="0" smtClean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ፈቃድና ምዝገባ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426313">
                <a:tc>
                  <a:txBody>
                    <a:bodyPr/>
                    <a:lstStyle/>
                    <a:p>
                      <a:r>
                        <a:rPr lang="en-GB" dirty="0" smtClean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ማስታወቂያ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735827">
                <a:tc>
                  <a:txBody>
                    <a:bodyPr/>
                    <a:lstStyle/>
                    <a:p>
                      <a:r>
                        <a:rPr lang="en-GB" dirty="0" smtClean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ጠቅላላ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800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ብር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700,000 </a:t>
                      </a:r>
                      <a:r>
                        <a:rPr lang="am-ET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ብር</a:t>
                      </a:r>
                      <a:endParaRPr lang="en-GB" dirty="0" smtClean="0"/>
                    </a:p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Power Geez Unicode3" pitchFamily="2" charset="0"/>
              </a:rPr>
              <a:t>9. SWOT </a:t>
            </a:r>
            <a:r>
              <a:rPr lang="en-GB" b="1" dirty="0" err="1">
                <a:latin typeface="Power Geez Unicode3" pitchFamily="2" charset="0"/>
              </a:rPr>
              <a:t>ትንተና</a:t>
            </a:r>
            <a:endParaRPr lang="en-GB" b="1" dirty="0">
              <a:latin typeface="Power Geez Unicode3" pitchFamily="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062773"/>
              </p:ext>
            </p:extLst>
          </p:nvPr>
        </p:nvGraphicFramePr>
        <p:xfrm>
          <a:off x="107504" y="764705"/>
          <a:ext cx="9001000" cy="5083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488"/>
                <a:gridCol w="2797131"/>
                <a:gridCol w="1889339"/>
                <a:gridCol w="2082876"/>
                <a:gridCol w="223166"/>
              </a:tblGrid>
              <a:tr h="700776">
                <a:tc>
                  <a:txBody>
                    <a:bodyPr/>
                    <a:lstStyle/>
                    <a:p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Strengths (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ጥንካሬ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Weaknesses (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ድክመት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b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</a:b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Opportunities (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እድሎች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Threats (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ስጋቶች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794878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ዘመናዊ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ዲጂታል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ቴክኖሎጂ</a:t>
                      </a: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ከፍተኛ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የመጀመሪያ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ኢንቨስትመንት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/>
                      </a:r>
                      <a:b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</a:b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የቴክኖሎጂ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ጥገና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ወጪ</a:t>
                      </a: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የዲጂታል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ክፍያ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እድገት</a:t>
                      </a: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ü"/>
                      </a:pPr>
                      <a:r>
                        <a:rPr lang="am-ET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ይህን አስቀድመን እናውቃለን” የሚል አመለካከት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/>
                </a:tc>
              </a:tr>
              <a:tr h="1257081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ግልጽ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አሰራር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/>
                      </a:r>
                      <a:b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</a:b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የዲጂታል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እውቀት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እጥረት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በአንዳንድ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አባላት</a:t>
                      </a: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የሞባይል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ተጠቃሚዎች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መጨመር</a:t>
                      </a: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የህግ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ለውጦች</a:t>
                      </a:r>
                      <a:endParaRPr lang="en-GB" sz="12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itchFamily="2" charset="2"/>
                        <a:buChar char="ü"/>
                      </a:pPr>
                      <a:r>
                        <a:rPr lang="am-ET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የኢኮኖሚ ለውጦች</a:t>
                      </a:r>
                      <a:endParaRPr lang="en-GB" sz="12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am-ET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ነፃ የጤና መረጃ በቀላሉ መገኘት</a:t>
                      </a:r>
                      <a:endParaRPr lang="en-GB" sz="1200" dirty="0" smtClean="0"/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endParaRPr lang="en-GB" sz="120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GB" sz="1200" b="1" kern="1200" dirty="0" smtClean="0">
                        <a:solidFill>
                          <a:schemeClr val="dk1"/>
                        </a:solidFill>
                        <a:effectLst/>
                        <a:latin typeface="Power Geez Unicode3" pitchFamily="2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</a:tr>
              <a:tr h="823018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ፈጣን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አገልግሎት</a:t>
                      </a: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m-ET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ከፍተኛ የመጀመሪያ ካፒታል ፍላጎት</a:t>
                      </a:r>
                      <a:endParaRPr lang="en-GB" sz="1200" dirty="0" smtClean="0"/>
                    </a:p>
                    <a:p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ከባንኮች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እና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ከፋይናንስ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ተቋማት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ጋር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አጋርነት</a:t>
                      </a: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አዳዲስ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ተወዳዳሪዎች</a:t>
                      </a: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</a:tr>
              <a:tr h="1392799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ዝቅተኛ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የአስተዳደር</a:t>
                      </a:r>
                      <a:r>
                        <a:rPr lang="en-GB" sz="12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ወጪ</a:t>
                      </a:r>
                      <a:endParaRPr lang="en-GB" sz="1200" b="1" kern="1200" dirty="0" smtClean="0">
                        <a:solidFill>
                          <a:schemeClr val="dk1"/>
                        </a:solidFill>
                        <a:effectLst/>
                        <a:latin typeface="Power Geez Unicode3" pitchFamily="2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itchFamily="2" charset="2"/>
                        <a:buChar char="ü"/>
                      </a:pPr>
                      <a:r>
                        <a:rPr lang="am-ET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የባለሙያ ቡድን፣</a:t>
                      </a:r>
                      <a:endParaRPr lang="en-GB" sz="12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itchFamily="2" charset="2"/>
                        <a:buChar char="ü"/>
                      </a:pPr>
                      <a:r>
                        <a:rPr lang="am-ET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ጥራት ያለው ስልጠና</a:t>
                      </a:r>
                      <a:endParaRPr lang="en-GB" sz="120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m-ET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የጤና ስልጠና ፍላጎት እየጨመረ መምጣቱ</a:t>
                      </a:r>
                      <a:endParaRPr lang="en-GB" sz="1200" dirty="0" smtClean="0"/>
                    </a:p>
                    <a:p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am-ET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ሰዎች መሰረታዊ የጤና መረጃ ብዙ ካወቁ ለመማር የሚከፍሉት ፍላጎት ሊቀንስ ይችላል</a:t>
                      </a:r>
                      <a:endParaRPr lang="en-GB" sz="1200" dirty="0" smtClean="0"/>
                    </a:p>
                    <a:p>
                      <a:pPr marL="0" indent="0">
                        <a:buFont typeface="Arial" pitchFamily="34" charset="0"/>
                        <a:buNone/>
                      </a:pPr>
                      <a:endParaRPr lang="en-GB" sz="1200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79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GB" b="1" dirty="0">
              <a:latin typeface="Power Geez Unicode3" pitchFamily="2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79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m-ET" sz="4000" b="1" dirty="0" smtClean="0"/>
              <a:t>1</a:t>
            </a:r>
            <a:r>
              <a:rPr lang="en-GB" sz="4000" b="1" dirty="0" smtClean="0"/>
              <a:t>0</a:t>
            </a:r>
            <a:r>
              <a:rPr lang="am-ET" sz="4000" b="1" dirty="0" smtClean="0"/>
              <a:t>/ </a:t>
            </a:r>
            <a:r>
              <a:rPr lang="am-ET" sz="4000" b="1" dirty="0"/>
              <a:t>የአደጋ አስተዳደር</a:t>
            </a:r>
            <a:endParaRPr lang="en-GB" sz="4000" b="1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am-ET" sz="3600" b="1" dirty="0"/>
              <a:t> </a:t>
            </a:r>
            <a:r>
              <a:rPr lang="am-ET" sz="3600" b="1" dirty="0" smtClean="0"/>
              <a:t>የ3–5 </a:t>
            </a:r>
            <a:r>
              <a:rPr lang="am-ET" sz="3600" b="1" dirty="0"/>
              <a:t>ዓመት የፋይናንስ </a:t>
            </a:r>
            <a:r>
              <a:rPr lang="am-ET" sz="3600" b="1" dirty="0" smtClean="0"/>
              <a:t>ትንበያ</a:t>
            </a:r>
            <a:endParaRPr lang="en-GB" sz="3600" b="1" dirty="0" smtClean="0">
              <a:latin typeface="Power Geez Unicode3" pitchFamily="2" charset="0"/>
            </a:endParaRPr>
          </a:p>
          <a:p>
            <a:r>
              <a:rPr lang="am-ET" sz="3600" b="1" dirty="0" smtClean="0"/>
              <a:t>የ3 </a:t>
            </a:r>
            <a:r>
              <a:rPr lang="am-ET" sz="3600" b="1" dirty="0"/>
              <a:t>ዓመት ፋይናንስ </a:t>
            </a:r>
            <a:r>
              <a:rPr lang="am-ET" sz="3600" b="1" dirty="0" smtClean="0"/>
              <a:t>ትንበያ</a:t>
            </a:r>
            <a:r>
              <a:rPr lang="en-GB" sz="3600" b="1" dirty="0" smtClean="0">
                <a:latin typeface="Power Geez Unicode3" pitchFamily="2" charset="0"/>
              </a:rPr>
              <a:t> </a:t>
            </a:r>
            <a:r>
              <a:rPr lang="am-ET" sz="3600" b="1" dirty="0" smtClean="0"/>
              <a:t>የፋይናንስ እቅድ </a:t>
            </a:r>
            <a:r>
              <a:rPr lang="am-ET" sz="3600" b="1" dirty="0"/>
              <a:t>(የመጀመሪያ 3 ዓመታት</a:t>
            </a:r>
            <a:r>
              <a:rPr lang="am-ET" sz="3600" b="1" dirty="0" smtClean="0"/>
              <a:t>)</a:t>
            </a:r>
            <a:endParaRPr lang="en-GB" sz="3600" b="1" dirty="0" smtClean="0">
              <a:latin typeface="Power Geez Unicode3" pitchFamily="2" charset="0"/>
            </a:endParaRPr>
          </a:p>
          <a:p>
            <a:r>
              <a:rPr lang="en-GB" sz="3600" b="1" dirty="0" err="1">
                <a:latin typeface="Power Geez Unicode3" pitchFamily="2" charset="0"/>
              </a:rPr>
              <a:t>የፋይናንስ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አደጋ</a:t>
            </a:r>
            <a:endParaRPr lang="am-ET" sz="3600" b="1" dirty="0"/>
          </a:p>
          <a:p>
            <a:r>
              <a:rPr lang="en-GB" sz="3600" b="1" dirty="0" err="1">
                <a:latin typeface="Power Geez Unicode3" pitchFamily="2" charset="0"/>
              </a:rPr>
              <a:t>የውስጥ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ኦዲት</a:t>
            </a:r>
            <a:endParaRPr lang="am-ET" sz="3600" b="1" dirty="0"/>
          </a:p>
          <a:p>
            <a:r>
              <a:rPr lang="en-GB" sz="3600" b="1" dirty="0" err="1">
                <a:latin typeface="Power Geez Unicode3" pitchFamily="2" charset="0"/>
              </a:rPr>
              <a:t>የውጭ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ኦዲት</a:t>
            </a:r>
            <a:endParaRPr lang="am-ET" sz="3600" b="1" dirty="0"/>
          </a:p>
          <a:p>
            <a:r>
              <a:rPr lang="en-GB" sz="3600" b="1" dirty="0" err="1">
                <a:latin typeface="Power Geez Unicode3" pitchFamily="2" charset="0"/>
              </a:rPr>
              <a:t>የሁለት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ደረጃ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ማረጋገጫ</a:t>
            </a:r>
            <a:r>
              <a:rPr lang="en-GB" sz="3600" b="1" dirty="0">
                <a:latin typeface="Power Geez Unicode3" pitchFamily="2" charset="0"/>
              </a:rPr>
              <a:t> (2FA)</a:t>
            </a:r>
            <a:endParaRPr lang="am-ET" sz="3600" b="1" dirty="0"/>
          </a:p>
          <a:p>
            <a:r>
              <a:rPr lang="en-GB" sz="3600" b="1" dirty="0" err="1">
                <a:latin typeface="Power Geez Unicode3" pitchFamily="2" charset="0"/>
              </a:rPr>
              <a:t>የቴክኖሎጂ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አደጋ</a:t>
            </a:r>
            <a:endParaRPr lang="am-ET" sz="3600" b="1" dirty="0"/>
          </a:p>
          <a:p>
            <a:r>
              <a:rPr lang="en-GB" sz="3600" b="1" dirty="0">
                <a:latin typeface="Power Geez Unicode3" pitchFamily="2" charset="0"/>
              </a:rPr>
              <a:t>Cloud Backup</a:t>
            </a:r>
            <a:endParaRPr lang="am-ET" sz="3600" b="1" dirty="0"/>
          </a:p>
          <a:p>
            <a:r>
              <a:rPr lang="en-GB" sz="3600" b="1" dirty="0" smtClean="0">
                <a:latin typeface="Power Geez Unicode3" pitchFamily="2" charset="0"/>
              </a:rPr>
              <a:t>Fire wall</a:t>
            </a:r>
            <a:endParaRPr lang="am-ET" sz="3600" b="1" dirty="0"/>
          </a:p>
          <a:p>
            <a:r>
              <a:rPr lang="en-GB" sz="3600" b="1" dirty="0">
                <a:latin typeface="Power Geez Unicode3" pitchFamily="2" charset="0"/>
              </a:rPr>
              <a:t>SSL Encryption</a:t>
            </a:r>
            <a:endParaRPr lang="am-ET" sz="3600" b="1" dirty="0"/>
          </a:p>
          <a:p>
            <a:r>
              <a:rPr lang="en-GB" sz="3600" b="1" dirty="0" err="1">
                <a:latin typeface="Power Geez Unicode3" pitchFamily="2" charset="0"/>
              </a:rPr>
              <a:t>የመረጃ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መጠባበቂያ</a:t>
            </a:r>
            <a:endParaRPr lang="am-ET" sz="3600" b="1" dirty="0"/>
          </a:p>
          <a:p>
            <a:r>
              <a:rPr lang="en-GB" sz="3600" b="1" dirty="0" err="1">
                <a:latin typeface="Power Geez Unicode3" pitchFamily="2" charset="0"/>
              </a:rPr>
              <a:t>የስራ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አደጋ</a:t>
            </a:r>
            <a:endParaRPr lang="am-ET" sz="3600" b="1" dirty="0"/>
          </a:p>
          <a:p>
            <a:r>
              <a:rPr lang="en-GB" sz="3600" b="1" dirty="0" err="1">
                <a:latin typeface="Power Geez Unicode3" pitchFamily="2" charset="0"/>
              </a:rPr>
              <a:t>የሰራተኞች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ስልጠና</a:t>
            </a:r>
            <a:endParaRPr lang="am-ET" sz="3600" b="1" dirty="0"/>
          </a:p>
          <a:p>
            <a:r>
              <a:rPr lang="en-GB" sz="3600" b="1" dirty="0" err="1">
                <a:latin typeface="Power Geez Unicode3" pitchFamily="2" charset="0"/>
              </a:rPr>
              <a:t>የስራ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መመሪያዎች</a:t>
            </a:r>
            <a:endParaRPr lang="am-ET" sz="3600" b="1" dirty="0"/>
          </a:p>
          <a:p>
            <a:r>
              <a:rPr lang="en-GB" sz="3600" b="1" dirty="0" err="1">
                <a:latin typeface="Power Geez Unicode3" pitchFamily="2" charset="0"/>
              </a:rPr>
              <a:t>የቀጣይነት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እቅድ</a:t>
            </a:r>
            <a:r>
              <a:rPr lang="en-GB" sz="3600" b="1" dirty="0">
                <a:latin typeface="Power Geez Unicode3" pitchFamily="2" charset="0"/>
              </a:rPr>
              <a:t> (Business Continuity Plan</a:t>
            </a:r>
            <a:endParaRPr lang="en-GB" sz="3600" b="1" dirty="0" smtClean="0">
              <a:latin typeface="Power Geez Unicode3" pitchFamily="2" charset="0"/>
            </a:endParaRPr>
          </a:p>
          <a:p>
            <a:endParaRPr lang="en-GB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59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m-ET" dirty="0" smtClean="0"/>
              <a:t>1</a:t>
            </a:r>
            <a:r>
              <a:rPr lang="en-GB" dirty="0" smtClean="0"/>
              <a:t>1</a:t>
            </a:r>
            <a:r>
              <a:rPr lang="am-ET" dirty="0" smtClean="0"/>
              <a:t>/</a:t>
            </a:r>
            <a:r>
              <a:rPr lang="en-GB" dirty="0" smtClean="0"/>
              <a:t> </a:t>
            </a:r>
            <a:r>
              <a:rPr lang="am-ET" dirty="0" smtClean="0"/>
              <a:t>የ3 </a:t>
            </a:r>
            <a:r>
              <a:rPr lang="am-ET" dirty="0"/>
              <a:t>ዓመት ፋይናንስ ትንበያ</a:t>
            </a:r>
            <a:r>
              <a:rPr lang="am-ET" dirty="0"/>
              <a:t/>
            </a:r>
            <a:br>
              <a:rPr lang="am-ET" dirty="0"/>
            </a:br>
            <a:r>
              <a:rPr lang="am-ET" dirty="0" smtClean="0"/>
              <a:t>የፋይናንስ </a:t>
            </a:r>
            <a:r>
              <a:rPr lang="am-ET" dirty="0"/>
              <a:t>እቅድ (የመጀመሪያ 3 ዓመታት)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188917"/>
              </p:ext>
            </p:extLst>
          </p:nvPr>
        </p:nvGraphicFramePr>
        <p:xfrm>
          <a:off x="457200" y="1600200"/>
          <a:ext cx="8229600" cy="4349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03953"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ዓመት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ገቢ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ወጪ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የተጣራ ትርፍ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1215042">
                <a:tc>
                  <a:txBody>
                    <a:bodyPr/>
                    <a:lstStyle/>
                    <a:p>
                      <a:r>
                        <a:rPr lang="en-GB" dirty="0" smtClean="0"/>
                        <a:t>2019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b="0" i="0" dirty="0" smtClean="0">
                          <a:effectLst/>
                          <a:latin typeface="Times New Roman"/>
                          <a:hlinkClick r:id="rId2"/>
                        </a:rPr>
                        <a:t>300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</a:t>
                      </a:r>
                      <a:r>
                        <a:rPr lang="am-ET" b="0" i="0" dirty="0" smtClean="0">
                          <a:effectLst/>
                          <a:latin typeface="Times New Roman"/>
                          <a:hlinkClick r:id="rId3"/>
                        </a:rPr>
                        <a:t>000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ብር</a:t>
                      </a:r>
                      <a:r>
                        <a:rPr lang="am-ET" dirty="0" smtClean="0"/>
                        <a:t/>
                      </a:r>
                      <a:br>
                        <a:rPr lang="am-ET" dirty="0" smtClean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b="0" i="0" dirty="0" smtClean="0">
                          <a:effectLst/>
                          <a:latin typeface="Times New Roman"/>
                          <a:hlinkClick r:id="rId4"/>
                        </a:rPr>
                        <a:t>220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</a:t>
                      </a:r>
                      <a:r>
                        <a:rPr lang="am-ET" b="0" i="0" dirty="0" smtClean="0">
                          <a:effectLst/>
                          <a:latin typeface="Times New Roman"/>
                          <a:hlinkClick r:id="rId3"/>
                        </a:rPr>
                        <a:t>000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ብር</a:t>
                      </a:r>
                      <a:r>
                        <a:rPr lang="am-ET" dirty="0" smtClean="0"/>
                        <a:t/>
                      </a:r>
                      <a:br>
                        <a:rPr lang="am-ET" dirty="0" smtClean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80,</a:t>
                      </a:r>
                      <a:r>
                        <a:rPr lang="am-ET" b="0" i="0" dirty="0" smtClean="0">
                          <a:effectLst/>
                          <a:latin typeface="Times New Roman"/>
                          <a:hlinkClick r:id="rId3"/>
                        </a:rPr>
                        <a:t>000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ብር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215042">
                <a:tc>
                  <a:txBody>
                    <a:bodyPr/>
                    <a:lstStyle/>
                    <a:p>
                      <a:r>
                        <a:rPr lang="en-GB" dirty="0" smtClean="0"/>
                        <a:t>2020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b="0" i="0" dirty="0" smtClean="0">
                          <a:effectLst/>
                          <a:latin typeface="Times New Roman"/>
                          <a:hlinkClick r:id="rId5"/>
                        </a:rPr>
                        <a:t>500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</a:t>
                      </a:r>
                      <a:r>
                        <a:rPr lang="am-ET" b="0" i="0" dirty="0" smtClean="0">
                          <a:effectLst/>
                          <a:latin typeface="Times New Roman"/>
                          <a:hlinkClick r:id="rId3"/>
                        </a:rPr>
                        <a:t>000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ብር</a:t>
                      </a:r>
                      <a:r>
                        <a:rPr lang="am-ET" dirty="0" smtClean="0"/>
                        <a:t/>
                      </a:r>
                      <a:br>
                        <a:rPr lang="am-ET" dirty="0" smtClean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b="0" i="0" dirty="0" smtClean="0">
                          <a:effectLst/>
                          <a:latin typeface="Times New Roman"/>
                          <a:hlinkClick r:id="rId6"/>
                        </a:rPr>
                        <a:t>340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</a:t>
                      </a:r>
                      <a:r>
                        <a:rPr lang="am-ET" b="0" i="0" dirty="0" smtClean="0">
                          <a:effectLst/>
                          <a:latin typeface="Times New Roman"/>
                          <a:hlinkClick r:id="rId3"/>
                        </a:rPr>
                        <a:t>000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ብር</a:t>
                      </a:r>
                      <a:r>
                        <a:rPr lang="am-ET" dirty="0" smtClean="0"/>
                        <a:t/>
                      </a:r>
                      <a:br>
                        <a:rPr lang="am-ET" dirty="0" smtClean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b="0" i="0" dirty="0" smtClean="0">
                          <a:effectLst/>
                          <a:latin typeface="Times New Roman"/>
                          <a:hlinkClick r:id="rId7"/>
                        </a:rPr>
                        <a:t>160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</a:t>
                      </a:r>
                      <a:r>
                        <a:rPr lang="am-ET" b="0" i="0" dirty="0" smtClean="0">
                          <a:effectLst/>
                          <a:latin typeface="Times New Roman"/>
                          <a:hlinkClick r:id="rId3"/>
                        </a:rPr>
                        <a:t>000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ብር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215042">
                <a:tc>
                  <a:txBody>
                    <a:bodyPr/>
                    <a:lstStyle/>
                    <a:p>
                      <a:r>
                        <a:rPr lang="en-GB" dirty="0" smtClean="0"/>
                        <a:t>2021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b="0" i="0" dirty="0" smtClean="0">
                          <a:effectLst/>
                          <a:latin typeface="Times New Roman"/>
                          <a:hlinkClick r:id="rId8"/>
                        </a:rPr>
                        <a:t>800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</a:t>
                      </a:r>
                      <a:r>
                        <a:rPr lang="am-ET" b="0" i="0" dirty="0" smtClean="0">
                          <a:effectLst/>
                          <a:latin typeface="Times New Roman"/>
                          <a:hlinkClick r:id="rId3"/>
                        </a:rPr>
                        <a:t>000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ብር</a:t>
                      </a:r>
                      <a:r>
                        <a:rPr lang="am-ET" dirty="0" smtClean="0"/>
                        <a:t/>
                      </a:r>
                      <a:br>
                        <a:rPr lang="am-ET" dirty="0" smtClean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b="0" i="0" dirty="0" smtClean="0">
                          <a:effectLst/>
                          <a:latin typeface="Times New Roman"/>
                          <a:hlinkClick r:id="rId9"/>
                        </a:rPr>
                        <a:t>520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</a:t>
                      </a:r>
                      <a:r>
                        <a:rPr lang="am-ET" b="0" i="0" dirty="0" smtClean="0">
                          <a:effectLst/>
                          <a:latin typeface="Times New Roman"/>
                          <a:hlinkClick r:id="rId3"/>
                        </a:rPr>
                        <a:t>000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ብር</a:t>
                      </a:r>
                      <a:r>
                        <a:rPr lang="am-ET" dirty="0" smtClean="0"/>
                        <a:t/>
                      </a:r>
                      <a:br>
                        <a:rPr lang="am-ET" dirty="0" smtClean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m-ET" b="0" i="0" dirty="0" smtClean="0">
                          <a:effectLst/>
                          <a:latin typeface="Times New Roman"/>
                          <a:hlinkClick r:id="rId10"/>
                        </a:rPr>
                        <a:t>280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,</a:t>
                      </a:r>
                      <a:r>
                        <a:rPr lang="am-ET" b="0" i="0" dirty="0" smtClean="0">
                          <a:effectLst/>
                          <a:latin typeface="Times New Roman"/>
                          <a:hlinkClick r:id="rId3"/>
                        </a:rPr>
                        <a:t>000</a:t>
                      </a:r>
                      <a:r>
                        <a:rPr lang="am-ET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ብር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43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Power Geez Unicode3" pitchFamily="2" charset="0"/>
              </a:rPr>
              <a:t>12.የገንዘብ </a:t>
            </a:r>
            <a:r>
              <a:rPr lang="en-GB" dirty="0" err="1">
                <a:latin typeface="Power Geez Unicode3" pitchFamily="2" charset="0"/>
              </a:rPr>
              <a:t>ፍሰት</a:t>
            </a:r>
            <a:r>
              <a:rPr lang="en-GB" dirty="0">
                <a:latin typeface="Power Geez Unicode3" pitchFamily="2" charset="0"/>
              </a:rPr>
              <a:t>(Cash Flow Projection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>
                <a:latin typeface="Power Geez Unicode3" pitchFamily="2" charset="0"/>
              </a:rPr>
              <a:t>የመጀመሪያ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ዓመት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የገንዘብ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ፍሰት</a:t>
            </a:r>
            <a:r>
              <a:rPr lang="en-GB" dirty="0">
                <a:latin typeface="Power Geez Unicode3" pitchFamily="2" charset="0"/>
              </a:rPr>
              <a:t> (</a:t>
            </a:r>
            <a:r>
              <a:rPr lang="en-GB" dirty="0" err="1">
                <a:latin typeface="Power Geez Unicode3" pitchFamily="2" charset="0"/>
              </a:rPr>
              <a:t>ምሳሌ</a:t>
            </a:r>
            <a:r>
              <a:rPr lang="en-GB" dirty="0">
                <a:latin typeface="Power Geez Unicode3" pitchFamily="2" charset="0"/>
              </a:rPr>
              <a:t>)</a:t>
            </a:r>
            <a:endParaRPr lang="am-ET" dirty="0"/>
          </a:p>
          <a:p>
            <a:pPr>
              <a:buFont typeface="Wingdings" pitchFamily="2" charset="2"/>
              <a:buChar char="v"/>
            </a:pPr>
            <a:r>
              <a:rPr lang="en-GB" sz="4000" b="1" dirty="0" err="1">
                <a:latin typeface="Power Geez Unicode3" pitchFamily="2" charset="0"/>
              </a:rPr>
              <a:t>የገቢ</a:t>
            </a:r>
            <a:r>
              <a:rPr lang="en-GB" sz="4000" b="1" dirty="0">
                <a:latin typeface="Power Geez Unicode3" pitchFamily="2" charset="0"/>
              </a:rPr>
              <a:t> </a:t>
            </a:r>
            <a:r>
              <a:rPr lang="en-GB" sz="4000" b="1" dirty="0" err="1">
                <a:latin typeface="Power Geez Unicode3" pitchFamily="2" charset="0"/>
              </a:rPr>
              <a:t>ምንጮች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የአባልነት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ምዝገባ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ወርሃዊ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የአገልግሎት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ኮሚሽን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የአጋርነት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ገቢ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ጠቅላላ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የገቢ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ግምት</a:t>
            </a:r>
            <a:r>
              <a:rPr lang="en-GB" dirty="0">
                <a:latin typeface="Power Geez Unicode3" pitchFamily="2" charset="0"/>
              </a:rPr>
              <a:t>፦ 3</a:t>
            </a:r>
            <a:r>
              <a:rPr lang="en-GB" u="sng" dirty="0" smtClean="0">
                <a:latin typeface="Power Geez Unicode3" pitchFamily="2" charset="0"/>
                <a:hlinkClick r:id="rId2"/>
              </a:rPr>
              <a:t>00</a:t>
            </a:r>
            <a:r>
              <a:rPr lang="en-GB" dirty="0" smtClean="0">
                <a:latin typeface="Power Geez Unicode3" pitchFamily="2" charset="0"/>
              </a:rPr>
              <a:t>,</a:t>
            </a:r>
            <a:r>
              <a:rPr lang="en-GB" u="sng" dirty="0" smtClean="0">
                <a:latin typeface="Power Geez Unicode3" pitchFamily="2" charset="0"/>
                <a:hlinkClick r:id="rId3"/>
              </a:rPr>
              <a:t>000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ብር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404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Power Geez Unicode3" pitchFamily="2" charset="0"/>
              </a:rPr>
              <a:t>13/</a:t>
            </a:r>
            <a:r>
              <a:rPr lang="en-GB" dirty="0" err="1" smtClean="0">
                <a:latin typeface="Power Geez Unicode3" pitchFamily="2" charset="0"/>
              </a:rPr>
              <a:t>ዋና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ወጪዎች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 err="1">
                <a:latin typeface="Power Geez Unicode3" pitchFamily="2" charset="0"/>
              </a:rPr>
              <a:t>የሞባይል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መተግበሪያ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ልማት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የዌብ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ሲስተም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ግንባታ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የሰራተኞች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ደመወዝ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የቢሮ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ኪራይ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የማስታወቂያ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ወጪ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የቴክኖሎጂ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ጥገና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የህግ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የኦዲት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አገልግሎት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ጠቅላላ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የወጪ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ግምት</a:t>
            </a:r>
            <a:r>
              <a:rPr lang="en-GB" dirty="0">
                <a:latin typeface="Power Geez Unicode3" pitchFamily="2" charset="0"/>
              </a:rPr>
              <a:t>፦ </a:t>
            </a:r>
            <a:r>
              <a:rPr lang="en-GB" dirty="0" smtClean="0">
                <a:latin typeface="Power Geez Unicode3" pitchFamily="2" charset="0"/>
              </a:rPr>
              <a:t>220,000 </a:t>
            </a:r>
            <a:r>
              <a:rPr lang="en-GB" dirty="0" err="1">
                <a:latin typeface="Power Geez Unicode3" pitchFamily="2" charset="0"/>
              </a:rPr>
              <a:t>ብር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የተጣራ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የገንዘብ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ፍሰት</a:t>
            </a:r>
            <a:r>
              <a:rPr lang="en-GB" dirty="0">
                <a:latin typeface="Power Geez Unicode3" pitchFamily="2" charset="0"/>
              </a:rPr>
              <a:t>፦ </a:t>
            </a:r>
            <a:r>
              <a:rPr lang="en-GB" dirty="0" smtClean="0">
                <a:latin typeface="Power Geez Unicode3" pitchFamily="2" charset="0"/>
              </a:rPr>
              <a:t>80,000 </a:t>
            </a:r>
            <a:r>
              <a:rPr lang="en-GB" dirty="0" err="1">
                <a:latin typeface="Power Geez Unicode3" pitchFamily="2" charset="0"/>
              </a:rPr>
              <a:t>ብር</a:t>
            </a:r>
            <a:endParaRPr lang="en-GB" dirty="0">
              <a:latin typeface="Power Geez Unicode3" pitchFamily="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677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 smtClean="0">
                <a:latin typeface="Power Geez Unicode3" pitchFamily="2" charset="0"/>
              </a:rPr>
              <a:t>14. </a:t>
            </a:r>
            <a:r>
              <a:rPr lang="en-GB" dirty="0" err="1">
                <a:latin typeface="Power Geez Unicode3" pitchFamily="2" charset="0"/>
              </a:rPr>
              <a:t>የትርፍና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ኪሳራ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መግለጫ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smtClean="0">
                <a:latin typeface="Power Geez Unicode3" pitchFamily="2" charset="0"/>
              </a:rPr>
              <a:t/>
            </a:r>
            <a:br>
              <a:rPr lang="en-GB" dirty="0" smtClean="0">
                <a:latin typeface="Power Geez Unicode3" pitchFamily="2" charset="0"/>
              </a:rPr>
            </a:br>
            <a:r>
              <a:rPr lang="en-GB" dirty="0" smtClean="0">
                <a:latin typeface="Power Geez Unicode3" pitchFamily="2" charset="0"/>
              </a:rPr>
              <a:t>(</a:t>
            </a:r>
            <a:r>
              <a:rPr lang="en-GB" dirty="0">
                <a:latin typeface="Power Geez Unicode3" pitchFamily="2" charset="0"/>
              </a:rPr>
              <a:t>Profit &amp; Loss</a:t>
            </a:r>
            <a:r>
              <a:rPr lang="en-GB" dirty="0"/>
              <a:t>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858159"/>
              </p:ext>
            </p:extLst>
          </p:nvPr>
        </p:nvGraphicFramePr>
        <p:xfrm>
          <a:off x="457200" y="2276872"/>
          <a:ext cx="8229600" cy="2001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267553"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መግለጫ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/>
                      </a:r>
                      <a:b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</a:b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ጠቅላላ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ገቢ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ጠቅላላ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ወጪ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</a:tr>
              <a:tr h="7343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መጠን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ብር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 smtClean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3,</a:t>
                      </a:r>
                      <a:r>
                        <a:rPr lang="en-GB" sz="1800" b="1" u="sng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2"/>
                        </a:rPr>
                        <a:t>500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en-GB" sz="1800" b="1" u="sng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2,</a:t>
                      </a:r>
                      <a:r>
                        <a:rPr lang="en-GB" sz="1800" b="1" u="sng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4"/>
                        </a:rPr>
                        <a:t>800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en-GB" sz="1800" b="1" u="sng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9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m-ET" b="1" dirty="0"/>
              <a:t>15/ የ5 ዓመት ግቦች</a:t>
            </a:r>
            <a:endParaRPr lang="en-GB" b="1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am-ET" sz="2800" b="1" dirty="0"/>
              <a:t>የ5 ዓመት ስትራቴጂክ ግቦች</a:t>
            </a:r>
            <a:r>
              <a:rPr lang="am-ET" sz="2800" b="1" dirty="0"/>
              <a:t/>
            </a:r>
            <a:br>
              <a:rPr lang="am-ET" sz="2800" b="1" dirty="0"/>
            </a:br>
            <a:r>
              <a:rPr lang="am-ET" sz="2800" b="1" dirty="0"/>
              <a:t>✓ በ5 ዓመታት ውስጥ በቢያንስ 5 ከተሞች አገልግሎት መስጠት።</a:t>
            </a:r>
            <a:r>
              <a:rPr lang="am-ET" sz="2800" b="1" dirty="0"/>
              <a:t/>
            </a:r>
            <a:br>
              <a:rPr lang="am-ET" sz="2800" b="1" dirty="0"/>
            </a:br>
            <a:r>
              <a:rPr lang="am-ET" sz="2800" b="1" dirty="0"/>
              <a:t>✓ በዓመት ከ2,</a:t>
            </a:r>
            <a:r>
              <a:rPr lang="am-ET" sz="2800" b="1" dirty="0">
                <a:hlinkClick r:id="rId2"/>
              </a:rPr>
              <a:t>000</a:t>
            </a:r>
            <a:r>
              <a:rPr lang="am-ET" sz="2800" b="1" dirty="0"/>
              <a:t> በላይ ሰልጣኞችን ማሰልጠን።</a:t>
            </a:r>
            <a:r>
              <a:rPr lang="am-ET" sz="2800" b="1" dirty="0"/>
              <a:t/>
            </a:r>
            <a:br>
              <a:rPr lang="am-ET" sz="2800" b="1" dirty="0"/>
            </a:br>
            <a:r>
              <a:rPr lang="am-ET" sz="2800" b="1" dirty="0"/>
              <a:t>✓የኦንላይን ስልጠና መድረክ ማቋቋም።</a:t>
            </a:r>
            <a:r>
              <a:rPr lang="am-ET" sz="2800" b="1" dirty="0"/>
              <a:t/>
            </a:r>
            <a:br>
              <a:rPr lang="am-ET" sz="2800" b="1" dirty="0"/>
            </a:br>
            <a:r>
              <a:rPr lang="am-ET" sz="2800" b="1" dirty="0"/>
              <a:t>✓ ከአገር ውስጥና ከውጭ አጋር ድርጅቶች ጋር ዘላቂ ሽርክና መፍጠር።</a:t>
            </a:r>
            <a:r>
              <a:rPr lang="am-ET" sz="2800" b="1" dirty="0"/>
              <a:t/>
            </a:r>
            <a:br>
              <a:rPr lang="am-ET" sz="2800" b="1" dirty="0"/>
            </a:br>
            <a:r>
              <a:rPr lang="am-ET" sz="2800" b="1" dirty="0"/>
              <a:t>✓ የጤና ስልጠና ዘርፍ ታዋቂ ተቋም መሆን</a:t>
            </a:r>
            <a:endParaRPr lang="en-GB" sz="2800" b="1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5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Power Geez Unicode3" pitchFamily="2" charset="0"/>
              </a:rPr>
              <a:t>16. </a:t>
            </a:r>
            <a:r>
              <a:rPr lang="en-GB" dirty="0" err="1">
                <a:latin typeface="Power Geez Unicode3" pitchFamily="2" charset="0"/>
              </a:rPr>
              <a:t>የትግበራ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ዕቅድ</a:t>
            </a:r>
            <a:r>
              <a:rPr lang="en-GB" dirty="0">
                <a:latin typeface="Power Geez Unicode3" pitchFamily="2" charset="0"/>
              </a:rPr>
              <a:t> (Implementation Plan</a:t>
            </a:r>
            <a:r>
              <a:rPr lang="en-GB" dirty="0"/>
              <a:t>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9634088"/>
              </p:ext>
            </p:extLst>
          </p:nvPr>
        </p:nvGraphicFramePr>
        <p:xfrm>
          <a:off x="179512" y="1484784"/>
          <a:ext cx="8712968" cy="460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242"/>
                <a:gridCol w="2178242"/>
                <a:gridCol w="2178242"/>
                <a:gridCol w="2178242"/>
              </a:tblGrid>
              <a:tr h="1152128"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ደረጃ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1 (1–3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ወራት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ደረጃ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2 (4–6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ወራት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ደረጃ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3 (7–9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ወራት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ደረጃ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4 (10–12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ወራት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</a:tr>
              <a:tr h="1152128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የማህበሩ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ምዝገባ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መተግበሪያ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ልማት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የሲስተም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ሙከራ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ኦፊሴላዊ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የሥራ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ማስጀመር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</a:tr>
              <a:tr h="1152128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የህግ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ሰነዶች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ማዘጋጀት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የዌብ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ፖርታል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ግንባታ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የአባላት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ምዝገባ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የአገልግሎት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ክትትል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</a:tr>
              <a:tr h="1152128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የሶፍትዌር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ንድፍ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የሰራተኞች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ቅጥር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የማስተዋወቂያ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ዘመቻ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የመጀመሪያ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ዓመት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ግምገማ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16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Power Geez Unicode3" pitchFamily="2" charset="0"/>
              </a:rPr>
              <a:t>17. </a:t>
            </a:r>
            <a:r>
              <a:rPr lang="en-GB" dirty="0" err="1">
                <a:latin typeface="Power Geez Unicode3" pitchFamily="2" charset="0"/>
              </a:rPr>
              <a:t>ክትትልና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ግምገማ</a:t>
            </a:r>
            <a:r>
              <a:rPr lang="en-GB" dirty="0">
                <a:latin typeface="Power Geez Unicode3" pitchFamily="2" charset="0"/>
              </a:rPr>
              <a:t> (Monitoring &amp; Evaluation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err="1">
                <a:latin typeface="Power Geez Unicode3" pitchFamily="2" charset="0"/>
              </a:rPr>
              <a:t>የማህበሩ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አፈጻጸም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በየወሩ</a:t>
            </a:r>
            <a:r>
              <a:rPr lang="en-GB" dirty="0">
                <a:latin typeface="Power Geez Unicode3" pitchFamily="2" charset="0"/>
              </a:rPr>
              <a:t>፣ 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በየሩብ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ዓመቱ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በየዓመቱ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ይገመገማል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/>
          </a:p>
          <a:p>
            <a:pPr>
              <a:buFont typeface="Wingdings" pitchFamily="2" charset="2"/>
              <a:buChar char="v"/>
            </a:pPr>
            <a:r>
              <a:rPr lang="en-GB" b="1" dirty="0" err="1">
                <a:latin typeface="Power Geez Unicode3" pitchFamily="2" charset="0"/>
              </a:rPr>
              <a:t>ዋና</a:t>
            </a:r>
            <a:r>
              <a:rPr lang="en-GB" b="1" dirty="0">
                <a:latin typeface="Power Geez Unicode3" pitchFamily="2" charset="0"/>
              </a:rPr>
              <a:t> </a:t>
            </a:r>
            <a:r>
              <a:rPr lang="en-GB" b="1" dirty="0" err="1">
                <a:latin typeface="Power Geez Unicode3" pitchFamily="2" charset="0"/>
              </a:rPr>
              <a:t>የአፈጻጸም</a:t>
            </a:r>
            <a:r>
              <a:rPr lang="en-GB" b="1" dirty="0">
                <a:latin typeface="Power Geez Unicode3" pitchFamily="2" charset="0"/>
              </a:rPr>
              <a:t> </a:t>
            </a:r>
            <a:r>
              <a:rPr lang="en-GB" b="1" dirty="0" err="1">
                <a:latin typeface="Power Geez Unicode3" pitchFamily="2" charset="0"/>
              </a:rPr>
              <a:t>መለኪያዎች</a:t>
            </a:r>
            <a:r>
              <a:rPr lang="en-GB" b="1" dirty="0">
                <a:latin typeface="Power Geez Unicode3" pitchFamily="2" charset="0"/>
              </a:rPr>
              <a:t> (KPIs)</a:t>
            </a:r>
            <a:endParaRPr lang="am-ET" b="1" dirty="0"/>
          </a:p>
          <a:p>
            <a:r>
              <a:rPr lang="en-GB" dirty="0" err="1">
                <a:latin typeface="Power Geez Unicode3" pitchFamily="2" charset="0"/>
              </a:rPr>
              <a:t>የተመዘገቡ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አባላት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ብዛት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የወርሃዊ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መዋጮ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መጠን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የአባላት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እርካታ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የሲስተም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ተደራሽነት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የትርፍ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ዕድገት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የቅሬታ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አፈታት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ፍጥነት</a:t>
            </a:r>
            <a:endParaRPr lang="en-GB" dirty="0">
              <a:latin typeface="Power Geez Unicode3" pitchFamily="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582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Power Geez Unicode3" pitchFamily="2" charset="0"/>
              </a:rPr>
              <a:t>18. </a:t>
            </a:r>
            <a:r>
              <a:rPr lang="en-GB" dirty="0" err="1">
                <a:latin typeface="Power Geez Unicode3" pitchFamily="2" charset="0"/>
              </a:rPr>
              <a:t>መደምደሚያ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"</a:t>
            </a:r>
            <a:r>
              <a:rPr lang="en-GB" dirty="0" err="1">
                <a:latin typeface="Power Geez Unicode3" pitchFamily="2" charset="0"/>
              </a:rPr>
              <a:t>ቤተ-ሰሊሖም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የሲቪል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ሰርባንት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ቋሚ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የንግድ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ማህበረሰብ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ዘመናዊ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ዕቁብ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ማህበር</a:t>
            </a:r>
            <a:r>
              <a:rPr lang="en-GB" dirty="0">
                <a:latin typeface="Power Geez Unicode3" pitchFamily="2" charset="0"/>
              </a:rPr>
              <a:t>" </a:t>
            </a: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ቴክኖሎጂን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በመጠቀም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የባህላዊ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ዕቁብን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ሥርዓት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ወደ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ዘመናዊ</a:t>
            </a:r>
            <a:r>
              <a:rPr lang="en-GB" dirty="0">
                <a:latin typeface="Power Geez Unicode3" pitchFamily="2" charset="0"/>
              </a:rPr>
              <a:t>፣ </a:t>
            </a:r>
            <a:r>
              <a:rPr lang="en-GB" dirty="0" err="1">
                <a:latin typeface="Power Geez Unicode3" pitchFamily="2" charset="0"/>
              </a:rPr>
              <a:t>ግልጽ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አስተማማኝ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አገልግሎት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ለመቀየር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የተዘጋጀ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ፕሮጀክት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ነው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>
              <a:latin typeface="Power Geez Unicode3" pitchFamily="2" charset="0"/>
            </a:endParaRPr>
          </a:p>
          <a:p>
            <a:r>
              <a:rPr lang="en-GB" dirty="0" err="1">
                <a:latin typeface="Power Geez Unicode3" pitchFamily="2" charset="0"/>
              </a:rPr>
              <a:t>የዚህ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ፕሮጀክት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ስኬት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በጥሩ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አስተዳደር</a:t>
            </a:r>
            <a:r>
              <a:rPr lang="en-GB" dirty="0">
                <a:latin typeface="Power Geez Unicode3" pitchFamily="2" charset="0"/>
              </a:rPr>
              <a:t>፣ </a:t>
            </a:r>
            <a:r>
              <a:rPr lang="en-GB" dirty="0" err="1">
                <a:latin typeface="Power Geez Unicode3" pitchFamily="2" charset="0"/>
              </a:rPr>
              <a:t>በቴክኖሎጂ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ደህንነት</a:t>
            </a:r>
            <a:r>
              <a:rPr lang="en-GB" dirty="0">
                <a:latin typeface="Power Geez Unicode3" pitchFamily="2" charset="0"/>
              </a:rPr>
              <a:t>፣ </a:t>
            </a:r>
            <a:r>
              <a:rPr lang="en-GB" dirty="0" err="1">
                <a:latin typeface="Power Geez Unicode3" pitchFamily="2" charset="0"/>
              </a:rPr>
              <a:t>በህጋዊ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ተገዢነት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በአባላት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እምነት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ላይ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የተመሠረተ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ይሆናል</a:t>
            </a:r>
            <a:r>
              <a:rPr lang="en-GB" dirty="0">
                <a:latin typeface="Power Geez Unicode3" pitchFamily="2" charset="0"/>
              </a:rPr>
              <a:t>። </a:t>
            </a:r>
            <a:r>
              <a:rPr lang="en-GB" dirty="0" err="1">
                <a:latin typeface="Power Geez Unicode3" pitchFamily="2" charset="0"/>
              </a:rPr>
              <a:t>በተገቢው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አስተዳደር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በቀጣይ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ማሻሻያ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ይህ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ማህበር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በኢትዮጵያ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ተመራጭ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ዕቁብ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አገልግሎት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አቅራቢ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የመሆን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እድል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አለው</a:t>
            </a:r>
            <a:r>
              <a:rPr lang="en-GB" dirty="0">
                <a:latin typeface="Power Geez Unicode3" pitchFamily="2" charset="0"/>
              </a:rPr>
              <a:t>።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456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Power Geez Unicode3" pitchFamily="2" charset="0"/>
              </a:rPr>
              <a:t>19. </a:t>
            </a:r>
            <a:r>
              <a:rPr lang="en-GB" dirty="0" err="1" smtClean="0">
                <a:latin typeface="Power Geez Unicode3" pitchFamily="2" charset="0"/>
              </a:rPr>
              <a:t>የህግ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 smtClean="0">
                <a:latin typeface="Power Geez Unicode3" pitchFamily="2" charset="0"/>
              </a:rPr>
              <a:t>አወቃቀር</a:t>
            </a:r>
            <a:endParaRPr lang="en-GB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Power Geez Unicode3" pitchFamily="2" charset="0"/>
              </a:rPr>
              <a:t>ማህበሩ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በኢትዮጵያ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ተፈጻሚ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ሕጎች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መሠረት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በሕጋዊ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መንገድ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ይመዘገባል</a:t>
            </a:r>
            <a:r>
              <a:rPr lang="en-GB" dirty="0">
                <a:latin typeface="Power Geez Unicode3" pitchFamily="2" charset="0"/>
              </a:rPr>
              <a:t>። </a:t>
            </a:r>
            <a:r>
              <a:rPr lang="en-GB" dirty="0" err="1">
                <a:latin typeface="Power Geez Unicode3" pitchFamily="2" charset="0"/>
              </a:rPr>
              <a:t>ሁሉም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የፋይናንስ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አሰራሮች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የመረጃ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ጥበቃ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ሂደቶች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በሚመለከታቸው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ሕጎች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መመሪያዎች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መሠረት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ይከናወናሉ</a:t>
            </a:r>
            <a:r>
              <a:rPr lang="en-GB" dirty="0"/>
              <a:t>።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946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20</a:t>
            </a:r>
            <a:r>
              <a:rPr lang="en-GB" dirty="0" smtClean="0"/>
              <a:t> /</a:t>
            </a:r>
            <a:r>
              <a:rPr lang="en-GB" dirty="0" err="1" smtClean="0">
                <a:latin typeface="Power Geez Unicode3" pitchFamily="2" charset="0"/>
              </a:rPr>
              <a:t>የአባልነት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ደንብ</a:t>
            </a:r>
            <a:endParaRPr lang="en-GB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ማንኛውም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የሚያሟላ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ግለሰብ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አባል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መሆን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ይችላል</a:t>
            </a:r>
            <a:r>
              <a:rPr lang="en-GB" dirty="0" smtClean="0">
                <a:latin typeface="Power Geez Unicode3" pitchFamily="2" charset="0"/>
              </a:rPr>
              <a:t>።</a:t>
            </a:r>
            <a:endParaRPr lang="am-ET" dirty="0" smtClean="0"/>
          </a:p>
          <a:p>
            <a:pPr>
              <a:buFont typeface="Wingdings" pitchFamily="2" charset="2"/>
              <a:buChar char="Ø"/>
            </a:pPr>
            <a:r>
              <a:rPr lang="en-GB" dirty="0" err="1" smtClean="0">
                <a:latin typeface="Power Geez Unicode3" pitchFamily="2" charset="0"/>
              </a:rPr>
              <a:t>የምዝገባ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ይከፈላል</a:t>
            </a:r>
            <a:r>
              <a:rPr lang="en-GB" dirty="0" smtClean="0">
                <a:latin typeface="Power Geez Unicode3" pitchFamily="2" charset="0"/>
              </a:rPr>
              <a:t>።</a:t>
            </a:r>
            <a:endParaRPr lang="am-ET" dirty="0" smtClean="0"/>
          </a:p>
          <a:p>
            <a:pPr>
              <a:buFont typeface="Wingdings" pitchFamily="2" charset="2"/>
              <a:buChar char="Ø"/>
            </a:pPr>
            <a:r>
              <a:rPr lang="en-GB" dirty="0" err="1" smtClean="0">
                <a:latin typeface="Power Geez Unicode3" pitchFamily="2" charset="0"/>
              </a:rPr>
              <a:t>ወርሃዊ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መዋጮ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በወቅቱ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መክፈል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ግዴታ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ነው</a:t>
            </a:r>
            <a:r>
              <a:rPr lang="en-GB" dirty="0" smtClean="0">
                <a:latin typeface="Power Geez Unicode3" pitchFamily="2" charset="0"/>
              </a:rPr>
              <a:t>።</a:t>
            </a:r>
            <a:endParaRPr lang="am-ET" dirty="0" smtClean="0"/>
          </a:p>
          <a:p>
            <a:pPr>
              <a:buFont typeface="Wingdings" pitchFamily="2" charset="2"/>
              <a:buChar char="Ø"/>
            </a:pPr>
            <a:r>
              <a:rPr lang="en-GB" dirty="0" err="1" smtClean="0">
                <a:latin typeface="Power Geez Unicode3" pitchFamily="2" charset="0"/>
              </a:rPr>
              <a:t>የማህበሩን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ደንብ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ማክበር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አስፈላጊ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ነው</a:t>
            </a:r>
            <a:r>
              <a:rPr lang="en-GB" dirty="0" smtClean="0">
                <a:latin typeface="Power Geez Unicode3" pitchFamily="2" charset="0"/>
              </a:rPr>
              <a:t>።</a:t>
            </a:r>
            <a:endParaRPr lang="am-ET" dirty="0" smtClean="0"/>
          </a:p>
          <a:p>
            <a:pPr>
              <a:buFont typeface="Wingdings" pitchFamily="2" charset="2"/>
              <a:buChar char="Ø"/>
            </a:pPr>
            <a:r>
              <a:rPr lang="en-GB" dirty="0" err="1" smtClean="0">
                <a:latin typeface="Power Geez Unicode3" pitchFamily="2" charset="0"/>
              </a:rPr>
              <a:t>የአባልነት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መብትና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ግዴታዎች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በደንቡ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በዝርዝር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ይገለጻሉ</a:t>
            </a:r>
            <a:r>
              <a:rPr lang="en-GB" dirty="0">
                <a:latin typeface="Power Geez Unicode3" pitchFamily="2" charset="0"/>
              </a:rPr>
              <a:t>።</a:t>
            </a:r>
          </a:p>
        </p:txBody>
      </p:sp>
    </p:spTree>
    <p:extLst>
      <p:ext uri="{BB962C8B-B14F-4D97-AF65-F5344CB8AC3E}">
        <p14:creationId xmlns:p14="http://schemas.microsoft.com/office/powerpoint/2010/main" val="148565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m-ET" dirty="0"/>
              <a:t> </a:t>
            </a:r>
            <a:r>
              <a:rPr lang="en-GB" dirty="0" smtClean="0"/>
              <a:t>21/</a:t>
            </a:r>
            <a:r>
              <a:rPr lang="en-GB" dirty="0" err="1" smtClean="0">
                <a:latin typeface="Power Geez Unicode3" pitchFamily="2" charset="0"/>
              </a:rPr>
              <a:t>አባሪዎች</a:t>
            </a:r>
            <a:endParaRPr lang="en-GB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latin typeface="Power Geez Unicode3" pitchFamily="2" charset="0"/>
              </a:rPr>
              <a:t>የአባልነት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ማመልከቻ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ቅጽ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የአባላት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ውል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የወርሃዊ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መዋጮ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ሰንጠረዥ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የዕጣ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አወጣጥ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መመሪያ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የስጋት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ምዘና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ሰንጠረዥ</a:t>
            </a:r>
            <a:endParaRPr lang="am-ET" dirty="0"/>
          </a:p>
          <a:p>
            <a:r>
              <a:rPr lang="en-GB" dirty="0">
                <a:latin typeface="Power Geez Unicode3" pitchFamily="2" charset="0"/>
              </a:rPr>
              <a:t>የ5 </a:t>
            </a:r>
            <a:r>
              <a:rPr lang="en-GB" dirty="0" err="1">
                <a:latin typeface="Power Geez Unicode3" pitchFamily="2" charset="0"/>
              </a:rPr>
              <a:t>ዓመት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የፋይናንስ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ሰንጠረዦች</a:t>
            </a:r>
            <a:endParaRPr lang="am-ET" dirty="0"/>
          </a:p>
          <a:p>
            <a:r>
              <a:rPr lang="en-GB" dirty="0" err="1">
                <a:latin typeface="Power Geez Unicode3" pitchFamily="2" charset="0"/>
              </a:rPr>
              <a:t>የቴክኒካል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ሲስተም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መግለጫ</a:t>
            </a:r>
            <a:endParaRPr lang="en-GB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84982"/>
          </a:xfrm>
        </p:spPr>
        <p:txBody>
          <a:bodyPr>
            <a:normAutofit/>
          </a:bodyPr>
          <a:lstStyle/>
          <a:p>
            <a:r>
              <a:rPr lang="en-GB" dirty="0" err="1" smtClean="0">
                <a:solidFill>
                  <a:srgbClr val="C00000"/>
                </a:solidFill>
              </a:rPr>
              <a:t>bgghgh</a:t>
            </a:r>
            <a:endParaRPr lang="en-GB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490302"/>
              </p:ext>
            </p:extLst>
          </p:nvPr>
        </p:nvGraphicFramePr>
        <p:xfrm>
          <a:off x="251520" y="1556790"/>
          <a:ext cx="8568951" cy="4969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/>
                <a:gridCol w="2419469"/>
                <a:gridCol w="1713790"/>
                <a:gridCol w="1713790"/>
                <a:gridCol w="1713790"/>
              </a:tblGrid>
              <a:tr h="973205">
                <a:tc>
                  <a:txBody>
                    <a:bodyPr/>
                    <a:lstStyle/>
                    <a:p>
                      <a:r>
                        <a:rPr lang="en-GB" dirty="0" err="1" smtClean="0">
                          <a:solidFill>
                            <a:srgbClr val="C00000"/>
                          </a:solidFill>
                        </a:rPr>
                        <a:t>Hm</a:t>
                      </a:r>
                      <a:r>
                        <a:rPr lang="en-GB" dirty="0" smtClean="0">
                          <a:solidFill>
                            <a:srgbClr val="C00000"/>
                          </a:solidFill>
                        </a:rPr>
                        <a:t>  </a:t>
                      </a:r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922458"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707218"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C00000"/>
                          </a:solidFill>
                        </a:rPr>
                        <a:t>  </a:t>
                      </a:r>
                      <a:r>
                        <a:rPr lang="en-GB" dirty="0" err="1" smtClean="0">
                          <a:solidFill>
                            <a:srgbClr val="C00000"/>
                          </a:solidFill>
                        </a:rPr>
                        <a:t>jj,m</a:t>
                      </a:r>
                      <a:r>
                        <a:rPr lang="en-GB" dirty="0" smtClean="0">
                          <a:solidFill>
                            <a:srgbClr val="C00000"/>
                          </a:solidFill>
                        </a:rPr>
                        <a:t>.</a:t>
                      </a:r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952154"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GB" dirty="0" err="1" smtClean="0">
                          <a:solidFill>
                            <a:srgbClr val="C00000"/>
                          </a:solidFill>
                        </a:rPr>
                        <a:t>l,jhbv</a:t>
                      </a:r>
                      <a:r>
                        <a:rPr lang="en-GB" dirty="0" smtClean="0">
                          <a:solidFill>
                            <a:srgbClr val="C00000"/>
                          </a:solidFill>
                        </a:rPr>
                        <a:t> b</a:t>
                      </a:r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707218"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>
                          <a:solidFill>
                            <a:srgbClr val="C00000"/>
                          </a:solidFill>
                        </a:rPr>
                        <a:t>Bnhmm</a:t>
                      </a:r>
                      <a:r>
                        <a:rPr lang="en-GB" dirty="0" smtClean="0">
                          <a:solidFill>
                            <a:srgbClr val="C00000"/>
                          </a:solidFill>
                        </a:rPr>
                        <a:t>,</a:t>
                      </a:r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707218"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00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Power Geez Unicode3" pitchFamily="2" charset="0"/>
              </a:rPr>
              <a:t>22/</a:t>
            </a:r>
            <a:r>
              <a:rPr lang="en-GB" sz="3600" dirty="0" err="1">
                <a:latin typeface="Power Geez Unicode3" pitchFamily="2" charset="0"/>
              </a:rPr>
              <a:t>ሕገ</a:t>
            </a:r>
            <a:r>
              <a:rPr lang="en-GB" sz="3600" dirty="0">
                <a:latin typeface="Power Geez Unicode3" pitchFamily="2" charset="0"/>
              </a:rPr>
              <a:t> </a:t>
            </a:r>
            <a:r>
              <a:rPr lang="en-GB" sz="3600" dirty="0" err="1">
                <a:latin typeface="Power Geez Unicode3" pitchFamily="2" charset="0"/>
              </a:rPr>
              <a:t>ደንብ</a:t>
            </a:r>
            <a:r>
              <a:rPr lang="en-GB" sz="3600" dirty="0">
                <a:latin typeface="Power Geez Unicode3" pitchFamily="2" charset="0"/>
              </a:rPr>
              <a:t> (Bylaws)</a:t>
            </a:r>
            <a:endParaRPr lang="en-GB" sz="3600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am-ET" sz="4400" b="1" dirty="0"/>
              <a:t> </a:t>
            </a:r>
            <a:r>
              <a:rPr lang="en-GB" sz="4000" b="1" dirty="0" err="1">
                <a:latin typeface="Power Geez Unicode3" pitchFamily="2" charset="0"/>
              </a:rPr>
              <a:t>አንቀጽ</a:t>
            </a:r>
            <a:r>
              <a:rPr lang="en-GB" sz="4000" b="1" dirty="0">
                <a:latin typeface="Power Geez Unicode3" pitchFamily="2" charset="0"/>
              </a:rPr>
              <a:t> 1፡ </a:t>
            </a:r>
            <a:r>
              <a:rPr lang="en-GB" sz="4000" b="1" dirty="0" err="1">
                <a:latin typeface="Power Geez Unicode3" pitchFamily="2" charset="0"/>
              </a:rPr>
              <a:t>ስም</a:t>
            </a:r>
            <a:r>
              <a:rPr lang="en-GB" sz="4000" b="1" dirty="0">
                <a:latin typeface="Power Geez Unicode3" pitchFamily="2" charset="0"/>
              </a:rPr>
              <a:t/>
            </a:r>
            <a:br>
              <a:rPr lang="en-GB" sz="4000" b="1" dirty="0">
                <a:latin typeface="Power Geez Unicode3" pitchFamily="2" charset="0"/>
              </a:rPr>
            </a:br>
            <a:endParaRPr lang="am-ET" sz="4000" b="1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የማህበሩ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ስም</a:t>
            </a:r>
            <a:r>
              <a:rPr lang="en-GB" dirty="0">
                <a:latin typeface="Power Geez Unicode3" pitchFamily="2" charset="0"/>
              </a:rPr>
              <a:t> "</a:t>
            </a:r>
            <a:r>
              <a:rPr lang="en-GB" dirty="0" err="1">
                <a:latin typeface="Power Geez Unicode3" pitchFamily="2" charset="0"/>
              </a:rPr>
              <a:t>ቤተ-ሰሊሖም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የሲቪል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ሰርባንት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ቋሚ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የንግድ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ማህበረሰብ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ዘመናዊ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ዕቁብ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ማህበር</a:t>
            </a:r>
            <a:r>
              <a:rPr lang="en-GB" dirty="0">
                <a:latin typeface="Power Geez Unicode3" pitchFamily="2" charset="0"/>
              </a:rPr>
              <a:t>" </a:t>
            </a:r>
            <a:r>
              <a:rPr lang="en-GB" dirty="0" err="1">
                <a:latin typeface="Power Geez Unicode3" pitchFamily="2" charset="0"/>
              </a:rPr>
              <a:t>ይሆናል</a:t>
            </a:r>
            <a:r>
              <a:rPr lang="en-GB" dirty="0">
                <a:latin typeface="Power Geez Unicode3" pitchFamily="2" charset="0"/>
              </a:rPr>
              <a:t>።</a:t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pPr marL="0" indent="0">
              <a:buNone/>
            </a:pPr>
            <a:r>
              <a:rPr lang="am-ET" sz="4000" b="1" dirty="0"/>
              <a:t>      </a:t>
            </a:r>
            <a:r>
              <a:rPr lang="en-GB" sz="4000" b="1" dirty="0" err="1">
                <a:latin typeface="Power Geez Unicode3" pitchFamily="2" charset="0"/>
              </a:rPr>
              <a:t>አንቀጽ</a:t>
            </a:r>
            <a:r>
              <a:rPr lang="en-GB" sz="4000" b="1" dirty="0">
                <a:latin typeface="Power Geez Unicode3" pitchFamily="2" charset="0"/>
              </a:rPr>
              <a:t> 2፡ </a:t>
            </a:r>
            <a:r>
              <a:rPr lang="en-GB" sz="4000" b="1" dirty="0" err="1">
                <a:latin typeface="Power Geez Unicode3" pitchFamily="2" charset="0"/>
              </a:rPr>
              <a:t>ዓላማ</a:t>
            </a:r>
            <a:endParaRPr lang="am-ET" sz="4400" b="1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ማህበሩ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የሚከተሉትን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ዓላማዎች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ይኖሩታል</a:t>
            </a:r>
            <a:r>
              <a:rPr lang="en-GB" dirty="0">
                <a:latin typeface="Power Geez Unicode3" pitchFamily="2" charset="0"/>
              </a:rPr>
              <a:t>፦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በዲጂታል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መንገድ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የዕቁብ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አገልግሎት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መስጠት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የቁጠባ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ባህልን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ማጠናከር</a:t>
            </a:r>
            <a:r>
              <a:rPr lang="en-GB" dirty="0">
                <a:latin typeface="Power Geez Unicode3" pitchFamily="2" charset="0"/>
              </a:rPr>
              <a:t>።</a:t>
            </a:r>
            <a:br>
              <a:rPr lang="en-GB" dirty="0">
                <a:latin typeface="Power Geez Unicode3" pitchFamily="2" charset="0"/>
              </a:rPr>
            </a:br>
            <a:r>
              <a:rPr lang="en-GB" dirty="0" err="1">
                <a:latin typeface="Power Geez Unicode3" pitchFamily="2" charset="0"/>
              </a:rPr>
              <a:t>ለአባላት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ግልጽ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አስተማማኝ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የፋይናንስ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አገልግሎት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መስጠት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ማበረታታት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/>
          </a:p>
          <a:p>
            <a:pPr marL="0" indent="0">
              <a:buNone/>
            </a:pPr>
            <a:r>
              <a:rPr lang="am-ET" sz="5400" b="1" dirty="0"/>
              <a:t>        </a:t>
            </a:r>
            <a:r>
              <a:rPr lang="en-GB" sz="4000" b="1" dirty="0" err="1">
                <a:latin typeface="Power Geez Unicode3" pitchFamily="2" charset="0"/>
              </a:rPr>
              <a:t>አንቀጽ</a:t>
            </a:r>
            <a:r>
              <a:rPr lang="en-GB" sz="4000" b="1" dirty="0">
                <a:latin typeface="Power Geez Unicode3" pitchFamily="2" charset="0"/>
              </a:rPr>
              <a:t> 3፡ </a:t>
            </a:r>
            <a:r>
              <a:rPr lang="en-GB" sz="4000" b="1" dirty="0" err="1">
                <a:latin typeface="Power Geez Unicode3" pitchFamily="2" charset="0"/>
              </a:rPr>
              <a:t>አባልነት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>
                <a:latin typeface="Power Geez Unicode3" pitchFamily="2" charset="0"/>
              </a:rPr>
              <a:t>18 </a:t>
            </a:r>
            <a:r>
              <a:rPr lang="en-GB" dirty="0" err="1">
                <a:latin typeface="Power Geez Unicode3" pitchFamily="2" charset="0"/>
              </a:rPr>
              <a:t>ዓመት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ከዚያ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በላይ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የሆነ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ማንኛውም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ግለሰብ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የማህበሩ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አባል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ሊሆን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ይችላል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የምዝገባ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ቅጽ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በማሟላት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የመጀመሪያ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በመክፈል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አባልነት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ይጀምራል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/>
          </a:p>
          <a:p>
            <a:pPr marL="0" indent="0">
              <a:buNone/>
            </a:pPr>
            <a:r>
              <a:rPr lang="am-ET" sz="4400" b="1" dirty="0"/>
              <a:t>        </a:t>
            </a:r>
            <a:r>
              <a:rPr lang="en-GB" sz="4000" b="1" dirty="0" err="1">
                <a:latin typeface="Power Geez Unicode3" pitchFamily="2" charset="0"/>
              </a:rPr>
              <a:t>አንቀጽ</a:t>
            </a:r>
            <a:r>
              <a:rPr lang="en-GB" sz="4000" b="1" dirty="0">
                <a:latin typeface="Power Geez Unicode3" pitchFamily="2" charset="0"/>
              </a:rPr>
              <a:t> 4፡ </a:t>
            </a:r>
            <a:r>
              <a:rPr lang="en-GB" sz="4000" b="1" dirty="0" err="1">
                <a:latin typeface="Power Geez Unicode3" pitchFamily="2" charset="0"/>
              </a:rPr>
              <a:t>የአባላት</a:t>
            </a:r>
            <a:r>
              <a:rPr lang="en-GB" sz="4000" b="1" dirty="0">
                <a:latin typeface="Power Geez Unicode3" pitchFamily="2" charset="0"/>
              </a:rPr>
              <a:t> </a:t>
            </a:r>
            <a:r>
              <a:rPr lang="en-GB" sz="4000" b="1" dirty="0" err="1">
                <a:latin typeface="Power Geez Unicode3" pitchFamily="2" charset="0"/>
              </a:rPr>
              <a:t>መብት</a:t>
            </a:r>
            <a:endParaRPr lang="am-ET" sz="4000" b="1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በዕቁብ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ዙር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መሳተፍ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በጠቅላላ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ጉባኤ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ድምጽ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መስጠት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የፋይናንስ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ሪፖርት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ማግኘት</a:t>
            </a:r>
            <a:r>
              <a:rPr lang="en-GB" dirty="0">
                <a:latin typeface="Power Geez Unicode3" pitchFamily="2" charset="0"/>
              </a:rPr>
              <a:t>።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>
                <a:latin typeface="Power Geez Unicode3" pitchFamily="2" charset="0"/>
              </a:rPr>
              <a:t>ቅሬታ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ማቅረብ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ምላሽ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ማግኘት</a:t>
            </a:r>
            <a:r>
              <a:rPr lang="en-GB" dirty="0">
                <a:latin typeface="Power Geez Unicode3" pitchFamily="2" charset="0"/>
              </a:rPr>
              <a:t>።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7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Power Geez Unicode3" pitchFamily="2" charset="0"/>
              </a:rPr>
              <a:t>23/ </a:t>
            </a:r>
            <a:r>
              <a:rPr lang="en-GB" dirty="0" smtClean="0"/>
              <a:t>CONT----------</a:t>
            </a:r>
            <a:endParaRPr lang="en-GB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Font typeface="Wingdings" pitchFamily="2" charset="2"/>
              <a:buChar char="ü"/>
            </a:pPr>
            <a:r>
              <a:rPr lang="en-GB" b="1" dirty="0" err="1">
                <a:latin typeface="Power Geez Unicode3" pitchFamily="2" charset="0"/>
              </a:rPr>
              <a:t>አንቀጽ</a:t>
            </a:r>
            <a:r>
              <a:rPr lang="en-GB" b="1" dirty="0">
                <a:latin typeface="Power Geez Unicode3" pitchFamily="2" charset="0"/>
              </a:rPr>
              <a:t> 5፡ </a:t>
            </a:r>
            <a:r>
              <a:rPr lang="en-GB" b="1" dirty="0" err="1">
                <a:latin typeface="Power Geez Unicode3" pitchFamily="2" charset="0"/>
              </a:rPr>
              <a:t>የአባላት</a:t>
            </a:r>
            <a:r>
              <a:rPr lang="en-GB" b="1" dirty="0">
                <a:latin typeface="Power Geez Unicode3" pitchFamily="2" charset="0"/>
              </a:rPr>
              <a:t> </a:t>
            </a:r>
            <a:r>
              <a:rPr lang="en-GB" b="1" dirty="0" err="1">
                <a:latin typeface="Power Geez Unicode3" pitchFamily="2" charset="0"/>
              </a:rPr>
              <a:t>ግዴታ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/>
              <a:t>ወርሃዊ</a:t>
            </a:r>
            <a:r>
              <a:rPr lang="en-GB" dirty="0"/>
              <a:t> </a:t>
            </a:r>
            <a:r>
              <a:rPr lang="en-GB" dirty="0" err="1"/>
              <a:t>መዋጮን</a:t>
            </a:r>
            <a:r>
              <a:rPr lang="en-GB" dirty="0"/>
              <a:t> </a:t>
            </a:r>
            <a:r>
              <a:rPr lang="en-GB" dirty="0" err="1"/>
              <a:t>በወቅቱ</a:t>
            </a:r>
            <a:r>
              <a:rPr lang="en-GB" dirty="0"/>
              <a:t> </a:t>
            </a:r>
            <a:r>
              <a:rPr lang="en-GB" dirty="0" err="1"/>
              <a:t>መክፈል</a:t>
            </a:r>
            <a:r>
              <a:rPr lang="en-GB" dirty="0"/>
              <a:t>።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/>
              <a:t>የማህበሩን</a:t>
            </a:r>
            <a:r>
              <a:rPr lang="en-GB" dirty="0"/>
              <a:t> </a:t>
            </a:r>
            <a:r>
              <a:rPr lang="en-GB" dirty="0" err="1"/>
              <a:t>ደንብ</a:t>
            </a:r>
            <a:r>
              <a:rPr lang="en-GB" dirty="0"/>
              <a:t> </a:t>
            </a:r>
            <a:r>
              <a:rPr lang="en-GB" dirty="0" err="1"/>
              <a:t>ማክበር</a:t>
            </a:r>
            <a:r>
              <a:rPr lang="en-GB" dirty="0"/>
              <a:t>።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/>
              <a:t>የማህበሩን</a:t>
            </a:r>
            <a:r>
              <a:rPr lang="en-GB" dirty="0"/>
              <a:t> </a:t>
            </a:r>
            <a:r>
              <a:rPr lang="en-GB" dirty="0" err="1"/>
              <a:t>ጥቅም</a:t>
            </a:r>
            <a:r>
              <a:rPr lang="en-GB" dirty="0"/>
              <a:t> </a:t>
            </a:r>
            <a:r>
              <a:rPr lang="en-GB" dirty="0" err="1"/>
              <a:t>መጠበቅ</a:t>
            </a:r>
            <a:r>
              <a:rPr lang="en-GB" dirty="0"/>
              <a:t>።</a:t>
            </a:r>
            <a:br>
              <a:rPr lang="en-GB" dirty="0"/>
            </a:br>
            <a:r>
              <a:rPr lang="en-GB" dirty="0" err="1"/>
              <a:t>አንቀጽ</a:t>
            </a:r>
            <a:r>
              <a:rPr lang="en-GB" dirty="0"/>
              <a:t> 6፡ </a:t>
            </a:r>
            <a:r>
              <a:rPr lang="en-GB" dirty="0" err="1"/>
              <a:t>አስተዳደር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/>
              <a:t>ማህበሩ</a:t>
            </a:r>
            <a:r>
              <a:rPr lang="en-GB" dirty="0"/>
              <a:t> </a:t>
            </a:r>
            <a:r>
              <a:rPr lang="en-GB" dirty="0" err="1"/>
              <a:t>በሚከተሉት</a:t>
            </a:r>
            <a:r>
              <a:rPr lang="en-GB" dirty="0"/>
              <a:t> </a:t>
            </a:r>
            <a:r>
              <a:rPr lang="en-GB" dirty="0" err="1"/>
              <a:t>አካላት</a:t>
            </a:r>
            <a:r>
              <a:rPr lang="en-GB" dirty="0"/>
              <a:t> </a:t>
            </a:r>
            <a:r>
              <a:rPr lang="en-GB" dirty="0" err="1"/>
              <a:t>ይመራል</a:t>
            </a:r>
            <a:r>
              <a:rPr lang="en-GB" dirty="0"/>
              <a:t>፦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/>
              <a:t>ጠቅላላ</a:t>
            </a:r>
            <a:r>
              <a:rPr lang="en-GB" dirty="0"/>
              <a:t> </a:t>
            </a:r>
            <a:r>
              <a:rPr lang="en-GB" dirty="0" err="1"/>
              <a:t>ጉባኤ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/>
              <a:t>የሥራ</a:t>
            </a:r>
            <a:r>
              <a:rPr lang="en-GB" dirty="0"/>
              <a:t> </a:t>
            </a:r>
            <a:r>
              <a:rPr lang="en-GB" dirty="0" err="1"/>
              <a:t>አስፈጻሚ</a:t>
            </a:r>
            <a:r>
              <a:rPr lang="en-GB" dirty="0"/>
              <a:t> </a:t>
            </a:r>
            <a:r>
              <a:rPr lang="en-GB" dirty="0" err="1"/>
              <a:t>ቦርድ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/>
              <a:t>ዋና</a:t>
            </a:r>
            <a:r>
              <a:rPr lang="en-GB" dirty="0"/>
              <a:t> </a:t>
            </a:r>
            <a:r>
              <a:rPr lang="en-GB" dirty="0" err="1"/>
              <a:t>ሥራ</a:t>
            </a:r>
            <a:r>
              <a:rPr lang="en-GB" dirty="0"/>
              <a:t> </a:t>
            </a:r>
            <a:r>
              <a:rPr lang="en-GB" dirty="0" err="1"/>
              <a:t>አስፈጻሚ</a:t>
            </a:r>
            <a:endParaRPr lang="am-ET" dirty="0"/>
          </a:p>
          <a:p>
            <a:pPr>
              <a:buFont typeface="Wingdings" pitchFamily="2" charset="2"/>
              <a:buChar char="ü"/>
            </a:pPr>
            <a:r>
              <a:rPr lang="en-GB" dirty="0" err="1"/>
              <a:t>ኦዲት</a:t>
            </a:r>
            <a:r>
              <a:rPr lang="en-GB" dirty="0"/>
              <a:t> </a:t>
            </a:r>
            <a:r>
              <a:rPr lang="en-GB" dirty="0" err="1"/>
              <a:t>ኮሚቴ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 err="1"/>
              <a:t>አንቀጽ</a:t>
            </a:r>
            <a:r>
              <a:rPr lang="en-GB" b="1" dirty="0"/>
              <a:t> 7፡ </a:t>
            </a:r>
            <a:r>
              <a:rPr lang="en-GB" b="1" dirty="0" err="1"/>
              <a:t>የፋይናንስ</a:t>
            </a:r>
            <a:r>
              <a:rPr lang="en-GB" b="1" dirty="0"/>
              <a:t> </a:t>
            </a:r>
            <a:r>
              <a:rPr lang="en-GB" b="1" dirty="0" err="1"/>
              <a:t>አስተዳደር</a:t>
            </a:r>
            <a:endParaRPr lang="am-ET" b="1" dirty="0"/>
          </a:p>
          <a:p>
            <a:pPr>
              <a:buFont typeface="Wingdings" pitchFamily="2" charset="2"/>
              <a:buChar char="ü"/>
            </a:pPr>
            <a:r>
              <a:rPr lang="en-GB" sz="2800" dirty="0" err="1"/>
              <a:t>ሁሉም</a:t>
            </a:r>
            <a:r>
              <a:rPr lang="en-GB" sz="2800" dirty="0"/>
              <a:t> </a:t>
            </a:r>
            <a:r>
              <a:rPr lang="en-GB" sz="2800" dirty="0" err="1"/>
              <a:t>ገንዘብ</a:t>
            </a:r>
            <a:r>
              <a:rPr lang="en-GB" sz="2800" dirty="0"/>
              <a:t> </a:t>
            </a:r>
            <a:r>
              <a:rPr lang="en-GB" sz="2800" dirty="0" err="1"/>
              <a:t>በባንክ</a:t>
            </a:r>
            <a:r>
              <a:rPr lang="en-GB" sz="2800" dirty="0"/>
              <a:t> </a:t>
            </a:r>
            <a:r>
              <a:rPr lang="en-GB" sz="2800" dirty="0" err="1"/>
              <a:t>ሂሳብ</a:t>
            </a:r>
            <a:r>
              <a:rPr lang="en-GB" sz="2800" dirty="0"/>
              <a:t> </a:t>
            </a:r>
            <a:r>
              <a:rPr lang="en-GB" sz="2800" dirty="0" err="1"/>
              <a:t>ይተዳደራል</a:t>
            </a:r>
            <a:r>
              <a:rPr lang="en-GB" sz="2800" dirty="0"/>
              <a:t>።</a:t>
            </a:r>
            <a:endParaRPr lang="am-ET" sz="2800" dirty="0"/>
          </a:p>
          <a:p>
            <a:pPr>
              <a:buFont typeface="Wingdings" pitchFamily="2" charset="2"/>
              <a:buChar char="ü"/>
            </a:pPr>
            <a:r>
              <a:rPr lang="en-GB" sz="2800" dirty="0" err="1"/>
              <a:t>የውስጥና</a:t>
            </a:r>
            <a:r>
              <a:rPr lang="en-GB" sz="2800" dirty="0"/>
              <a:t> </a:t>
            </a:r>
            <a:r>
              <a:rPr lang="en-GB" sz="2800" dirty="0" err="1"/>
              <a:t>የውጭ</a:t>
            </a:r>
            <a:r>
              <a:rPr lang="en-GB" sz="2800" dirty="0"/>
              <a:t> </a:t>
            </a:r>
            <a:r>
              <a:rPr lang="en-GB" sz="2800" dirty="0" err="1"/>
              <a:t>ኦዲት</a:t>
            </a:r>
            <a:r>
              <a:rPr lang="en-GB" sz="2800" dirty="0"/>
              <a:t> </a:t>
            </a:r>
            <a:r>
              <a:rPr lang="en-GB" sz="2800" dirty="0" err="1"/>
              <a:t>በመደበኛነት</a:t>
            </a:r>
            <a:r>
              <a:rPr lang="en-GB" sz="2800" dirty="0"/>
              <a:t> </a:t>
            </a:r>
            <a:r>
              <a:rPr lang="en-GB" sz="2800" dirty="0" err="1"/>
              <a:t>ይካሄዳል</a:t>
            </a:r>
            <a:r>
              <a:rPr lang="en-GB" sz="2800" dirty="0"/>
              <a:t>።</a:t>
            </a:r>
            <a:endParaRPr lang="am-ET" sz="2800" dirty="0"/>
          </a:p>
          <a:p>
            <a:pPr>
              <a:buFont typeface="Wingdings" pitchFamily="2" charset="2"/>
              <a:buChar char="ü"/>
            </a:pPr>
            <a:r>
              <a:rPr lang="en-GB" sz="2800" dirty="0" err="1"/>
              <a:t>የፋይናንስ</a:t>
            </a:r>
            <a:r>
              <a:rPr lang="en-GB" sz="2800" dirty="0"/>
              <a:t> </a:t>
            </a:r>
            <a:r>
              <a:rPr lang="en-GB" sz="2800" dirty="0" err="1"/>
              <a:t>ሪፖርት</a:t>
            </a:r>
            <a:r>
              <a:rPr lang="en-GB" sz="2800" dirty="0"/>
              <a:t> </a:t>
            </a:r>
            <a:r>
              <a:rPr lang="en-GB" sz="2800" dirty="0" err="1"/>
              <a:t>ለአባላት</a:t>
            </a:r>
            <a:r>
              <a:rPr lang="en-GB" sz="2800" dirty="0"/>
              <a:t> </a:t>
            </a:r>
            <a:r>
              <a:rPr lang="en-GB" sz="2800" dirty="0" err="1"/>
              <a:t>በየወቅቱ</a:t>
            </a:r>
            <a:r>
              <a:rPr lang="en-GB" sz="2800" dirty="0"/>
              <a:t> </a:t>
            </a:r>
            <a:r>
              <a:rPr lang="en-GB" sz="2800" dirty="0" err="1"/>
              <a:t>ይቀርባል</a:t>
            </a:r>
            <a:r>
              <a:rPr lang="en-GB" dirty="0"/>
              <a:t>።</a:t>
            </a:r>
            <a:br>
              <a:rPr lang="en-GB" dirty="0"/>
            </a:br>
            <a:r>
              <a:rPr lang="en-GB" b="1" dirty="0" err="1"/>
              <a:t>አንቀጽ</a:t>
            </a:r>
            <a:r>
              <a:rPr lang="en-GB" b="1" dirty="0"/>
              <a:t> 8፡ </a:t>
            </a:r>
            <a:r>
              <a:rPr lang="en-GB" b="1" dirty="0" err="1"/>
              <a:t>የደንብ</a:t>
            </a:r>
            <a:r>
              <a:rPr lang="en-GB" b="1" dirty="0"/>
              <a:t> </a:t>
            </a:r>
            <a:r>
              <a:rPr lang="en-GB" b="1" dirty="0" err="1"/>
              <a:t>ማሻሻያ</a:t>
            </a:r>
            <a:endParaRPr lang="am-ET" b="1" dirty="0"/>
          </a:p>
          <a:p>
            <a:pPr>
              <a:buFont typeface="Wingdings" pitchFamily="2" charset="2"/>
              <a:buChar char="ü"/>
            </a:pPr>
            <a:r>
              <a:rPr lang="en-GB" sz="2800" dirty="0" err="1"/>
              <a:t>ይህ</a:t>
            </a:r>
            <a:r>
              <a:rPr lang="en-GB" sz="2800" dirty="0"/>
              <a:t> </a:t>
            </a:r>
            <a:r>
              <a:rPr lang="en-GB" sz="2800" dirty="0" err="1"/>
              <a:t>ሕገ</a:t>
            </a:r>
            <a:r>
              <a:rPr lang="en-GB" sz="2800" dirty="0"/>
              <a:t> </a:t>
            </a:r>
            <a:r>
              <a:rPr lang="en-GB" sz="2800" dirty="0" err="1"/>
              <a:t>ደንብ</a:t>
            </a:r>
            <a:r>
              <a:rPr lang="en-GB" sz="2800" dirty="0"/>
              <a:t> </a:t>
            </a:r>
            <a:r>
              <a:rPr lang="en-GB" sz="2800" dirty="0" err="1"/>
              <a:t>በጠቅላላ</a:t>
            </a:r>
            <a:r>
              <a:rPr lang="en-GB" sz="2800" dirty="0"/>
              <a:t> </a:t>
            </a:r>
            <a:r>
              <a:rPr lang="en-GB" sz="2800" dirty="0" err="1"/>
              <a:t>ጉባኤ</a:t>
            </a:r>
            <a:r>
              <a:rPr lang="en-GB" sz="2800" dirty="0"/>
              <a:t> </a:t>
            </a:r>
            <a:r>
              <a:rPr lang="en-GB" sz="2800" dirty="0" err="1"/>
              <a:t>ከሁለት</a:t>
            </a:r>
            <a:r>
              <a:rPr lang="en-GB" sz="2800" dirty="0"/>
              <a:t> </a:t>
            </a:r>
            <a:r>
              <a:rPr lang="en-GB" sz="2800" dirty="0" err="1"/>
              <a:t>ሶስተኛ</a:t>
            </a:r>
            <a:r>
              <a:rPr lang="en-GB" sz="2800" dirty="0"/>
              <a:t> (2/3) </a:t>
            </a:r>
            <a:r>
              <a:rPr lang="en-GB" sz="2800" dirty="0" err="1"/>
              <a:t>ድምጽ</a:t>
            </a:r>
            <a:r>
              <a:rPr lang="en-GB" sz="2800" dirty="0"/>
              <a:t> </a:t>
            </a:r>
            <a:r>
              <a:rPr lang="en-GB" sz="2800" dirty="0" err="1"/>
              <a:t>በማግኘት</a:t>
            </a:r>
            <a:r>
              <a:rPr lang="en-GB" sz="2800" dirty="0"/>
              <a:t> </a:t>
            </a:r>
            <a:r>
              <a:rPr lang="en-GB" sz="2800" dirty="0" err="1"/>
              <a:t>ሊሻሻል</a:t>
            </a:r>
            <a:r>
              <a:rPr lang="en-GB" sz="2800" dirty="0"/>
              <a:t> </a:t>
            </a:r>
            <a:r>
              <a:rPr lang="en-GB" sz="2800" dirty="0" err="1"/>
              <a:t>ይችላል</a:t>
            </a:r>
            <a:r>
              <a:rPr lang="en-GB" sz="2800" dirty="0"/>
              <a:t>።</a:t>
            </a:r>
            <a:endParaRPr lang="am-ET" sz="2800" dirty="0"/>
          </a:p>
          <a:p>
            <a:pPr>
              <a:buFont typeface="Wingdings" pitchFamily="2" charset="2"/>
              <a:buChar char="ü"/>
            </a:pPr>
            <a:r>
              <a:rPr lang="en-GB" b="1" dirty="0" err="1"/>
              <a:t>አንቀጽ</a:t>
            </a:r>
            <a:r>
              <a:rPr lang="en-GB" b="1" dirty="0"/>
              <a:t> 9፡ </a:t>
            </a:r>
            <a:r>
              <a:rPr lang="en-GB" b="1" dirty="0" err="1"/>
              <a:t>የማህበሩ</a:t>
            </a:r>
            <a:r>
              <a:rPr lang="en-GB" b="1" dirty="0"/>
              <a:t> </a:t>
            </a:r>
            <a:r>
              <a:rPr lang="en-GB" b="1" dirty="0" err="1"/>
              <a:t>መፍረስ</a:t>
            </a:r>
            <a:endParaRPr lang="am-ET" b="1" dirty="0"/>
          </a:p>
          <a:p>
            <a:pPr>
              <a:buFont typeface="Wingdings" pitchFamily="2" charset="2"/>
              <a:buChar char="ü"/>
            </a:pPr>
            <a:r>
              <a:rPr lang="en-GB" sz="2800" dirty="0" err="1"/>
              <a:t>ማህበሩ</a:t>
            </a:r>
            <a:r>
              <a:rPr lang="en-GB" sz="2800" dirty="0"/>
              <a:t> </a:t>
            </a:r>
            <a:r>
              <a:rPr lang="en-GB" sz="2800" dirty="0" err="1"/>
              <a:t>በህግ</a:t>
            </a:r>
            <a:r>
              <a:rPr lang="en-GB" sz="2800" dirty="0"/>
              <a:t> </a:t>
            </a:r>
            <a:r>
              <a:rPr lang="en-GB" sz="2800" dirty="0" err="1"/>
              <a:t>መሠረት</a:t>
            </a:r>
            <a:r>
              <a:rPr lang="en-GB" sz="2800" dirty="0"/>
              <a:t> </a:t>
            </a:r>
            <a:r>
              <a:rPr lang="en-GB" sz="2800" dirty="0" err="1"/>
              <a:t>ወይም</a:t>
            </a:r>
            <a:r>
              <a:rPr lang="en-GB" sz="2800" dirty="0"/>
              <a:t> </a:t>
            </a:r>
            <a:r>
              <a:rPr lang="en-GB" sz="2800" dirty="0" err="1"/>
              <a:t>በጠቅላላ</a:t>
            </a:r>
            <a:r>
              <a:rPr lang="en-GB" sz="2800" dirty="0"/>
              <a:t> </a:t>
            </a:r>
            <a:r>
              <a:rPr lang="en-GB" sz="2800" dirty="0" err="1"/>
              <a:t>ጉባኤ</a:t>
            </a:r>
            <a:r>
              <a:rPr lang="en-GB" sz="2800" dirty="0"/>
              <a:t> </a:t>
            </a:r>
            <a:r>
              <a:rPr lang="en-GB" sz="2800" dirty="0" err="1"/>
              <a:t>ውሳኔ</a:t>
            </a:r>
            <a:r>
              <a:rPr lang="en-GB" sz="2800" dirty="0"/>
              <a:t> </a:t>
            </a:r>
            <a:r>
              <a:rPr lang="en-GB" sz="2800" dirty="0" err="1"/>
              <a:t>ሊፈርስ</a:t>
            </a:r>
            <a:r>
              <a:rPr lang="en-GB" sz="2800" dirty="0"/>
              <a:t> </a:t>
            </a:r>
            <a:r>
              <a:rPr lang="en-GB" sz="2800" dirty="0" err="1"/>
              <a:t>ይችላል</a:t>
            </a:r>
            <a:r>
              <a:rPr lang="en-GB" sz="2800" dirty="0"/>
              <a:t>። </a:t>
            </a:r>
            <a:r>
              <a:rPr lang="en-GB" sz="2800" dirty="0" err="1"/>
              <a:t>ቀሪ</a:t>
            </a:r>
            <a:r>
              <a:rPr lang="en-GB" sz="2800" dirty="0"/>
              <a:t> </a:t>
            </a:r>
            <a:r>
              <a:rPr lang="en-GB" sz="2800" dirty="0" err="1"/>
              <a:t>ንብረቶች</a:t>
            </a:r>
            <a:r>
              <a:rPr lang="en-GB" sz="2800" dirty="0"/>
              <a:t> </a:t>
            </a:r>
            <a:r>
              <a:rPr lang="en-GB" sz="2800" dirty="0" err="1"/>
              <a:t>በሕግና</a:t>
            </a:r>
            <a:r>
              <a:rPr lang="en-GB" sz="2800" dirty="0"/>
              <a:t> </a:t>
            </a:r>
            <a:r>
              <a:rPr lang="en-GB" sz="2800" dirty="0" err="1"/>
              <a:t>በአባላት</a:t>
            </a:r>
            <a:r>
              <a:rPr lang="en-GB" sz="2800" dirty="0"/>
              <a:t> </a:t>
            </a:r>
            <a:r>
              <a:rPr lang="en-GB" sz="2800" dirty="0" err="1"/>
              <a:t>ውሳኔ</a:t>
            </a:r>
            <a:r>
              <a:rPr lang="en-GB" sz="2800" dirty="0"/>
              <a:t> </a:t>
            </a:r>
            <a:r>
              <a:rPr lang="en-GB" sz="2800" dirty="0" err="1"/>
              <a:t>መሠረት</a:t>
            </a:r>
            <a:r>
              <a:rPr lang="en-GB" sz="2800" dirty="0"/>
              <a:t> </a:t>
            </a:r>
            <a:r>
              <a:rPr lang="en-GB" sz="2800" dirty="0" err="1"/>
              <a:t>ይከፋፈላሉ</a:t>
            </a:r>
            <a:r>
              <a:rPr lang="en-GB" sz="2800" dirty="0"/>
              <a:t>።</a:t>
            </a:r>
          </a:p>
          <a:p>
            <a:endParaRPr lang="en-GB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36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983255"/>
              </p:ext>
            </p:extLst>
          </p:nvPr>
        </p:nvGraphicFramePr>
        <p:xfrm>
          <a:off x="457200" y="1600200"/>
          <a:ext cx="8229600" cy="2476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238436"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መግለጫ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/>
                      </a:r>
                      <a:b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</a:b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ጠቅላላ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ገቢ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ጠቅላላ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ወጪ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የተጣራ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ትርፍ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</a:tr>
              <a:tr h="12384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መጠን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1" kern="1200" dirty="0" err="1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ብር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 smtClean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  <a:p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3,</a:t>
                      </a:r>
                      <a:r>
                        <a:rPr lang="en-GB" sz="1800" b="1" u="sng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2"/>
                        </a:rPr>
                        <a:t>500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en-GB" sz="1800" b="1" u="sng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2,</a:t>
                      </a:r>
                      <a:r>
                        <a:rPr lang="en-GB" sz="1800" b="1" u="sng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4"/>
                        </a:rPr>
                        <a:t>800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en-GB" sz="1800" b="1" u="sng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u="sng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5"/>
                        </a:rPr>
                        <a:t>700</a:t>
                      </a:r>
                      <a:r>
                        <a:rPr lang="en-GB" sz="1800" b="1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en-GB" sz="1800" b="1" u="sng" kern="1200" dirty="0" smtClean="0">
                          <a:solidFill>
                            <a:srgbClr val="C00000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  <a:hlinkClick r:id="rId3"/>
                        </a:rPr>
                        <a:t>000</a:t>
                      </a:r>
                      <a:endParaRPr lang="en-GB" b="1" dirty="0">
                        <a:solidFill>
                          <a:srgbClr val="C00000"/>
                        </a:solidFill>
                        <a:latin typeface="Power Geez Unicode3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70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600" dirty="0">
                <a:latin typeface="Power Geez Unicode3" pitchFamily="2" charset="0"/>
              </a:rPr>
              <a:t>18. </a:t>
            </a:r>
            <a:r>
              <a:rPr lang="en-GB" sz="3600" dirty="0" err="1">
                <a:latin typeface="Power Geez Unicode3" pitchFamily="2" charset="0"/>
              </a:rPr>
              <a:t>የትግበራ</a:t>
            </a:r>
            <a:r>
              <a:rPr lang="en-GB" sz="3600" dirty="0">
                <a:latin typeface="Power Geez Unicode3" pitchFamily="2" charset="0"/>
              </a:rPr>
              <a:t> </a:t>
            </a:r>
            <a:r>
              <a:rPr lang="en-GB" sz="3600" dirty="0" err="1">
                <a:latin typeface="Power Geez Unicode3" pitchFamily="2" charset="0"/>
              </a:rPr>
              <a:t>ዕቅድ</a:t>
            </a:r>
            <a:r>
              <a:rPr lang="en-GB" sz="3600" dirty="0">
                <a:latin typeface="Power Geez Unicode3" pitchFamily="2" charset="0"/>
              </a:rPr>
              <a:t> (Implementation Plan</a:t>
            </a:r>
            <a:r>
              <a:rPr lang="en-GB" dirty="0"/>
              <a:t>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9449934"/>
              </p:ext>
            </p:extLst>
          </p:nvPr>
        </p:nvGraphicFramePr>
        <p:xfrm>
          <a:off x="179512" y="1268760"/>
          <a:ext cx="8856984" cy="468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246"/>
                <a:gridCol w="2214246"/>
                <a:gridCol w="2214246"/>
                <a:gridCol w="2214246"/>
              </a:tblGrid>
              <a:tr h="1170130"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ደረጃ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1 (1–3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ወራት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ደረጃ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2 (4–6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ወራት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ደረጃ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3 (7–9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ወራት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ደረጃ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4 (10–12 </a:t>
                      </a:r>
                      <a:r>
                        <a:rPr lang="en-GB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ወራት</a:t>
                      </a:r>
                      <a:r>
                        <a:rPr lang="en-GB" sz="1800" b="1" kern="1200" dirty="0" smtClean="0">
                          <a:solidFill>
                            <a:schemeClr val="lt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)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</a:tr>
              <a:tr h="1170130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የማህበሩ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ምዝገባ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መተግበሪያ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ልማት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የሲስተም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ሙከራ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ኦፊሴላዊ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የሥራ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ማስጀመር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</a:tr>
              <a:tr h="1170130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የህግ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ሰነዶች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ማዘጋጀት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የዌብ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ፖርታል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ግንባታ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የአባላት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ምዝገባ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የአገልግሎት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ክትትል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</a:tr>
              <a:tr h="1170130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የሶፍትዌር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ንድፍ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የሰራተኞች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ቅጥር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የማስተዋወቂያ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ዘመቻ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የመጀመሪያ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ዓመት</a:t>
                      </a:r>
                      <a:r>
                        <a:rPr lang="en-GB" sz="1800" b="1" kern="1200" dirty="0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Power Geez Unicode3" pitchFamily="2" charset="0"/>
                          <a:ea typeface="+mn-ea"/>
                          <a:cs typeface="+mn-cs"/>
                        </a:rPr>
                        <a:t>ግምገማ</a:t>
                      </a:r>
                      <a:endParaRPr lang="en-GB" b="1" dirty="0">
                        <a:latin typeface="Power Geez Unicode3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9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Power Geez Unicode3" pitchFamily="2" charset="0"/>
              </a:rPr>
              <a:t>24/</a:t>
            </a:r>
            <a:r>
              <a:rPr lang="en-GB" sz="3200" dirty="0" err="1">
                <a:latin typeface="Power Geez Unicode3" pitchFamily="2" charset="0"/>
              </a:rPr>
              <a:t>የመመስረቻ</a:t>
            </a:r>
            <a:r>
              <a:rPr lang="en-GB" sz="3200" dirty="0">
                <a:latin typeface="Power Geez Unicode3" pitchFamily="2" charset="0"/>
              </a:rPr>
              <a:t> </a:t>
            </a:r>
            <a:r>
              <a:rPr lang="en-GB" sz="3200" dirty="0" err="1">
                <a:latin typeface="Power Geez Unicode3" pitchFamily="2" charset="0"/>
              </a:rPr>
              <a:t>ጽሑፍ</a:t>
            </a:r>
            <a:r>
              <a:rPr lang="en-GB" sz="3200" dirty="0">
                <a:latin typeface="Power Geez Unicode3" pitchFamily="2" charset="0"/>
              </a:rPr>
              <a:t> (Memorandum of Association</a:t>
            </a:r>
            <a:r>
              <a:rPr lang="en-GB" sz="3200" dirty="0"/>
              <a:t>)</a:t>
            </a:r>
            <a:endParaRPr lang="en-GB" sz="3200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ለ"ቤተ-ሰሊሖም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የሲቪል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ሰርቪስ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ቋሚ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የንግድ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ማህበረሰብ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ዘመናዊ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ዕቁብ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ማህበር</a:t>
            </a:r>
            <a:r>
              <a:rPr lang="en-GB" dirty="0">
                <a:latin typeface="Power Geez Unicode3" pitchFamily="2" charset="0"/>
              </a:rPr>
              <a:t>"</a:t>
            </a:r>
            <a:br>
              <a:rPr lang="en-GB" dirty="0">
                <a:latin typeface="Power Geez Unicode3" pitchFamily="2" charset="0"/>
              </a:rPr>
            </a:br>
            <a:r>
              <a:rPr lang="en-GB" dirty="0">
                <a:latin typeface="Power Geez Unicode3" pitchFamily="2" charset="0"/>
              </a:rPr>
              <a:t>   </a:t>
            </a:r>
            <a:r>
              <a:rPr lang="en-GB" b="1" dirty="0" err="1">
                <a:latin typeface="Power Geez Unicode3" pitchFamily="2" charset="0"/>
              </a:rPr>
              <a:t>አንቀጽ</a:t>
            </a:r>
            <a:r>
              <a:rPr lang="en-GB" b="1" dirty="0">
                <a:latin typeface="Power Geez Unicode3" pitchFamily="2" charset="0"/>
              </a:rPr>
              <a:t> 1፡ </a:t>
            </a:r>
            <a:r>
              <a:rPr lang="en-GB" b="1" dirty="0" err="1">
                <a:latin typeface="Power Geez Unicode3" pitchFamily="2" charset="0"/>
              </a:rPr>
              <a:t>የማህበሩ</a:t>
            </a:r>
            <a:r>
              <a:rPr lang="en-GB" b="1" dirty="0">
                <a:latin typeface="Power Geez Unicode3" pitchFamily="2" charset="0"/>
              </a:rPr>
              <a:t> </a:t>
            </a:r>
            <a:r>
              <a:rPr lang="en-GB" b="1" dirty="0" err="1">
                <a:latin typeface="Power Geez Unicode3" pitchFamily="2" charset="0"/>
              </a:rPr>
              <a:t>ስም</a:t>
            </a:r>
            <a:endParaRPr lang="en-GB" b="1" dirty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የማህበሩ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ስም</a:t>
            </a:r>
            <a:r>
              <a:rPr lang="en-GB" dirty="0">
                <a:latin typeface="Power Geez Unicode3" pitchFamily="2" charset="0"/>
              </a:rPr>
              <a:t> "</a:t>
            </a:r>
            <a:r>
              <a:rPr lang="en-GB" dirty="0" err="1">
                <a:latin typeface="Power Geez Unicode3" pitchFamily="2" charset="0"/>
              </a:rPr>
              <a:t>ቤተ-ሰሊሖም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የሲቪል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ሰርቪስ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ቋሚ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የንግድ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ማህበረሰብ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ዘመናዊ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ዕቁብ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ማህበር</a:t>
            </a:r>
            <a:r>
              <a:rPr lang="en-GB" dirty="0">
                <a:latin typeface="Power Geez Unicode3" pitchFamily="2" charset="0"/>
              </a:rPr>
              <a:t>" </a:t>
            </a:r>
            <a:r>
              <a:rPr lang="en-GB" dirty="0" err="1">
                <a:latin typeface="Power Geez Unicode3" pitchFamily="2" charset="0"/>
              </a:rPr>
              <a:t>ይሆናል</a:t>
            </a:r>
            <a:r>
              <a:rPr lang="en-GB" dirty="0">
                <a:latin typeface="Power Geez Unicode3" pitchFamily="2" charset="0"/>
              </a:rPr>
              <a:t>።</a:t>
            </a:r>
            <a:br>
              <a:rPr lang="en-GB" dirty="0">
                <a:latin typeface="Power Geez Unicode3" pitchFamily="2" charset="0"/>
              </a:rPr>
            </a:br>
            <a:r>
              <a:rPr lang="en-GB" dirty="0">
                <a:latin typeface="Power Geez Unicode3" pitchFamily="2" charset="0"/>
              </a:rPr>
              <a:t>   </a:t>
            </a:r>
            <a:r>
              <a:rPr lang="en-GB" b="1" dirty="0" err="1">
                <a:latin typeface="Power Geez Unicode3" pitchFamily="2" charset="0"/>
              </a:rPr>
              <a:t>አንቀጽ</a:t>
            </a:r>
            <a:r>
              <a:rPr lang="en-GB" b="1" dirty="0">
                <a:latin typeface="Power Geez Unicode3" pitchFamily="2" charset="0"/>
              </a:rPr>
              <a:t> 2፡ </a:t>
            </a:r>
            <a:r>
              <a:rPr lang="en-GB" b="1" dirty="0" err="1">
                <a:latin typeface="Power Geez Unicode3" pitchFamily="2" charset="0"/>
              </a:rPr>
              <a:t>የማህበሩ</a:t>
            </a:r>
            <a:r>
              <a:rPr lang="en-GB" b="1" dirty="0">
                <a:latin typeface="Power Geez Unicode3" pitchFamily="2" charset="0"/>
              </a:rPr>
              <a:t> </a:t>
            </a:r>
            <a:r>
              <a:rPr lang="en-GB" b="1" dirty="0" err="1">
                <a:latin typeface="Power Geez Unicode3" pitchFamily="2" charset="0"/>
              </a:rPr>
              <a:t>መቋቋሚያ</a:t>
            </a:r>
            <a:endParaRPr lang="en-GB" b="1" dirty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ማህበሩ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በኢትዮጵያ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ፌዴራላዊ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ዴሞክራሲያዊ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ሪፐብሊክ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ሕጎች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መሠረት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የሚመሠረት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ሕጋዊ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ተቋም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ነው</a:t>
            </a:r>
            <a:r>
              <a:rPr lang="en-GB" dirty="0">
                <a:latin typeface="Power Geez Unicode3" pitchFamily="2" charset="0"/>
              </a:rPr>
              <a:t>።</a:t>
            </a:r>
            <a:br>
              <a:rPr lang="en-GB" dirty="0">
                <a:latin typeface="Power Geez Unicode3" pitchFamily="2" charset="0"/>
              </a:rPr>
            </a:br>
            <a:r>
              <a:rPr lang="en-GB" dirty="0">
                <a:latin typeface="Power Geez Unicode3" pitchFamily="2" charset="0"/>
              </a:rPr>
              <a:t>   </a:t>
            </a:r>
            <a:r>
              <a:rPr lang="en-GB" b="1" dirty="0" err="1">
                <a:latin typeface="Power Geez Unicode3" pitchFamily="2" charset="0"/>
              </a:rPr>
              <a:t>አንቀጽ</a:t>
            </a:r>
            <a:r>
              <a:rPr lang="en-GB" b="1" dirty="0">
                <a:latin typeface="Power Geez Unicode3" pitchFamily="2" charset="0"/>
              </a:rPr>
              <a:t> 3፡ </a:t>
            </a:r>
            <a:r>
              <a:rPr lang="en-GB" b="1" dirty="0" err="1">
                <a:latin typeface="Power Geez Unicode3" pitchFamily="2" charset="0"/>
              </a:rPr>
              <a:t>ዓላማ</a:t>
            </a:r>
            <a:endParaRPr lang="en-GB" dirty="0">
              <a:latin typeface="Power Geez Unicode3" pitchFamily="2" charset="0"/>
            </a:endParaRPr>
          </a:p>
          <a:p>
            <a:pPr>
              <a:buFont typeface="Wingdings" pitchFamily="2" charset="2"/>
              <a:buChar char="v"/>
            </a:pPr>
            <a:r>
              <a:rPr lang="en-GB" dirty="0" err="1">
                <a:latin typeface="Power Geez Unicode3" pitchFamily="2" charset="0"/>
              </a:rPr>
              <a:t>ማህበሩ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የሚከተሉትን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ዓላማዎች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ይኖሩታል</a:t>
            </a:r>
            <a:r>
              <a:rPr lang="en-GB" dirty="0">
                <a:latin typeface="Power Geez Unicode3" pitchFamily="2" charset="0"/>
              </a:rPr>
              <a:t>፦</a:t>
            </a:r>
          </a:p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ዘመናዊ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ዕቁብ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አገልግሎት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መስጠት</a:t>
            </a:r>
            <a:r>
              <a:rPr lang="en-GB" dirty="0">
                <a:latin typeface="Power Geez Unicode3" pitchFamily="2" charset="0"/>
              </a:rPr>
              <a:t>።</a:t>
            </a:r>
          </a:p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የቁጠባ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ባህልን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ማጠናከር</a:t>
            </a:r>
            <a:r>
              <a:rPr lang="en-GB" dirty="0">
                <a:latin typeface="Power Geez Unicode3" pitchFamily="2" charset="0"/>
              </a:rPr>
              <a:t>።</a:t>
            </a:r>
          </a:p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ለአባላት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የተሻለ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የፋይናንስ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ተደራሽነት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መፍጠር</a:t>
            </a:r>
            <a:r>
              <a:rPr lang="en-GB" dirty="0">
                <a:latin typeface="Power Geez Unicode3" pitchFamily="2" charset="0"/>
              </a:rPr>
              <a:t>።</a:t>
            </a:r>
          </a:p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የዲጂታል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ስርዓቶችን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ማበረታታት</a:t>
            </a:r>
            <a:r>
              <a:rPr lang="en-GB" dirty="0">
                <a:latin typeface="Power Geez Unicode3" pitchFamily="2" charset="0"/>
              </a:rPr>
              <a:t>።</a:t>
            </a:r>
            <a:br>
              <a:rPr lang="en-GB" dirty="0">
                <a:latin typeface="Power Geez Unicode3" pitchFamily="2" charset="0"/>
              </a:rPr>
            </a:br>
            <a:r>
              <a:rPr lang="en-GB" dirty="0">
                <a:latin typeface="Power Geez Unicode3" pitchFamily="2" charset="0"/>
              </a:rPr>
              <a:t>   </a:t>
            </a:r>
            <a:r>
              <a:rPr lang="en-GB" b="1" dirty="0" err="1">
                <a:latin typeface="Power Geez Unicode3" pitchFamily="2" charset="0"/>
              </a:rPr>
              <a:t>አንቀጽ</a:t>
            </a:r>
            <a:r>
              <a:rPr lang="en-GB" b="1" dirty="0">
                <a:latin typeface="Power Geez Unicode3" pitchFamily="2" charset="0"/>
              </a:rPr>
              <a:t> 4፡ </a:t>
            </a:r>
            <a:r>
              <a:rPr lang="en-GB" b="1" dirty="0" err="1">
                <a:latin typeface="Power Geez Unicode3" pitchFamily="2" charset="0"/>
              </a:rPr>
              <a:t>አባልነት</a:t>
            </a:r>
            <a:endParaRPr lang="en-GB" b="1" dirty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አባልነት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በፈቃደኝነት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ይሰጣል</a:t>
            </a:r>
            <a:r>
              <a:rPr lang="en-GB" dirty="0">
                <a:latin typeface="Power Geez Unicode3" pitchFamily="2" charset="0"/>
              </a:rPr>
              <a:t>።</a:t>
            </a:r>
          </a:p>
          <a:p>
            <a:pPr>
              <a:buFont typeface="Wingdings" pitchFamily="2" charset="2"/>
              <a:buChar char="Ø"/>
            </a:pPr>
            <a:r>
              <a:rPr lang="en-GB" dirty="0" err="1">
                <a:latin typeface="Power Geez Unicode3" pitchFamily="2" charset="0"/>
              </a:rPr>
              <a:t>የማህበሩን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ደንብ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የሚቀበል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እና</a:t>
            </a:r>
            <a:r>
              <a:rPr lang="en-GB" sz="4000" dirty="0">
                <a:latin typeface="Power Geez Unicode3" pitchFamily="2" charset="0"/>
              </a:rPr>
              <a:t> </a:t>
            </a:r>
            <a:r>
              <a:rPr lang="en-GB" sz="4000" dirty="0" err="1">
                <a:latin typeface="Power Geez Unicode3" pitchFamily="2" charset="0"/>
              </a:rPr>
              <a:t>የአባልነት</a:t>
            </a:r>
            <a:r>
              <a:rPr lang="en-GB" sz="4000" dirty="0">
                <a:latin typeface="Power Geez Unicode3" pitchFamily="2" charset="0"/>
              </a:rPr>
              <a:t> </a:t>
            </a:r>
            <a:r>
              <a:rPr lang="en-GB" sz="4000" dirty="0" err="1">
                <a:latin typeface="Power Geez Unicode3" pitchFamily="2" charset="0"/>
              </a:rPr>
              <a:t>መስፈርቶችን</a:t>
            </a:r>
            <a:r>
              <a:rPr lang="en-GB" sz="4000" dirty="0">
                <a:latin typeface="Power Geez Unicode3" pitchFamily="2" charset="0"/>
              </a:rPr>
              <a:t> </a:t>
            </a:r>
            <a:r>
              <a:rPr lang="en-GB" sz="4000" dirty="0" err="1">
                <a:latin typeface="Power Geez Unicode3" pitchFamily="2" charset="0"/>
              </a:rPr>
              <a:t>የሚያሟላ</a:t>
            </a:r>
            <a:r>
              <a:rPr lang="en-GB" sz="4000" dirty="0">
                <a:latin typeface="Power Geez Unicode3" pitchFamily="2" charset="0"/>
              </a:rPr>
              <a:t> </a:t>
            </a:r>
            <a:r>
              <a:rPr lang="en-GB" sz="4000" dirty="0" err="1">
                <a:latin typeface="Power Geez Unicode3" pitchFamily="2" charset="0"/>
              </a:rPr>
              <a:t>ማንኛውም</a:t>
            </a:r>
            <a:r>
              <a:rPr lang="en-GB" sz="4000" dirty="0">
                <a:latin typeface="Power Geez Unicode3" pitchFamily="2" charset="0"/>
              </a:rPr>
              <a:t> </a:t>
            </a:r>
            <a:r>
              <a:rPr lang="en-GB" sz="4000" dirty="0" err="1">
                <a:latin typeface="Power Geez Unicode3" pitchFamily="2" charset="0"/>
              </a:rPr>
              <a:t>ግለሰብ</a:t>
            </a:r>
            <a:r>
              <a:rPr lang="en-GB" sz="4000" dirty="0">
                <a:latin typeface="Power Geez Unicode3" pitchFamily="2" charset="0"/>
              </a:rPr>
              <a:t> </a:t>
            </a:r>
            <a:r>
              <a:rPr lang="en-GB" sz="4000" dirty="0" err="1">
                <a:latin typeface="Power Geez Unicode3" pitchFamily="2" charset="0"/>
              </a:rPr>
              <a:t>አባል</a:t>
            </a:r>
            <a:r>
              <a:rPr lang="en-GB" sz="4000" dirty="0">
                <a:latin typeface="Power Geez Unicode3" pitchFamily="2" charset="0"/>
              </a:rPr>
              <a:t> </a:t>
            </a:r>
            <a:r>
              <a:rPr lang="en-GB" sz="4000" dirty="0" err="1">
                <a:latin typeface="Power Geez Unicode3" pitchFamily="2" charset="0"/>
              </a:rPr>
              <a:t>ሊሆን</a:t>
            </a:r>
            <a:r>
              <a:rPr lang="en-GB" sz="4000" dirty="0">
                <a:latin typeface="Power Geez Unicode3" pitchFamily="2" charset="0"/>
              </a:rPr>
              <a:t> </a:t>
            </a:r>
            <a:r>
              <a:rPr lang="en-GB" sz="4000" dirty="0" err="1">
                <a:latin typeface="Power Geez Unicode3" pitchFamily="2" charset="0"/>
              </a:rPr>
              <a:t>ይችላል</a:t>
            </a:r>
            <a:r>
              <a:rPr lang="en-GB" sz="4000" dirty="0">
                <a:latin typeface="Power Geez Unicode3" pitchFamily="2" charset="0"/>
              </a:rPr>
              <a:t>።</a:t>
            </a:r>
          </a:p>
          <a:p>
            <a:endParaRPr lang="en-GB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6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Power Geez Unicode3" pitchFamily="2" charset="0"/>
              </a:rPr>
              <a:t>25/</a:t>
            </a:r>
            <a:r>
              <a:rPr lang="en-GB" dirty="0" smtClean="0"/>
              <a:t>CONT-</a:t>
            </a:r>
            <a:r>
              <a:rPr lang="en-GB" dirty="0"/>
              <a:t>---------------</a:t>
            </a:r>
            <a:endParaRPr lang="en-GB" dirty="0">
              <a:latin typeface="Power Geez Unicode3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sz="3600" dirty="0" err="1">
                <a:latin typeface="Power Geez Unicode3" pitchFamily="2" charset="0"/>
              </a:rPr>
              <a:t>አንቀጽ</a:t>
            </a:r>
            <a:r>
              <a:rPr lang="en-GB" sz="3600" dirty="0">
                <a:latin typeface="Power Geez Unicode3" pitchFamily="2" charset="0"/>
              </a:rPr>
              <a:t> 5፡ </a:t>
            </a:r>
            <a:r>
              <a:rPr lang="en-GB" sz="3600" dirty="0" err="1">
                <a:latin typeface="Power Geez Unicode3" pitchFamily="2" charset="0"/>
              </a:rPr>
              <a:t>አስተዳደር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r>
              <a:rPr lang="en-GB" b="1" dirty="0" err="1">
                <a:latin typeface="Power Geez Unicode3" pitchFamily="2" charset="0"/>
              </a:rPr>
              <a:t>የማህበሩ</a:t>
            </a:r>
            <a:r>
              <a:rPr lang="en-GB" b="1" dirty="0">
                <a:latin typeface="Power Geez Unicode3" pitchFamily="2" charset="0"/>
              </a:rPr>
              <a:t> </a:t>
            </a:r>
            <a:r>
              <a:rPr lang="en-GB" b="1" dirty="0" err="1">
                <a:latin typeface="Power Geez Unicode3" pitchFamily="2" charset="0"/>
              </a:rPr>
              <a:t>የአስተዳደር</a:t>
            </a:r>
            <a:r>
              <a:rPr lang="en-GB" b="1" dirty="0">
                <a:latin typeface="Power Geez Unicode3" pitchFamily="2" charset="0"/>
              </a:rPr>
              <a:t> </a:t>
            </a:r>
            <a:r>
              <a:rPr lang="en-GB" b="1" dirty="0" err="1">
                <a:latin typeface="Power Geez Unicode3" pitchFamily="2" charset="0"/>
              </a:rPr>
              <a:t>አካላት</a:t>
            </a:r>
            <a:r>
              <a:rPr lang="en-GB" dirty="0"/>
              <a:t>፦</a:t>
            </a:r>
            <a:br>
              <a:rPr lang="en-GB" dirty="0"/>
            </a:br>
            <a:endParaRPr lang="en-GB" dirty="0"/>
          </a:p>
          <a:p>
            <a:r>
              <a:rPr lang="en-GB" dirty="0" err="1">
                <a:latin typeface="Power Geez Unicode3" pitchFamily="2" charset="0"/>
              </a:rPr>
              <a:t>ጠቅላላ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ጉባኤ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  <a:p>
            <a:r>
              <a:rPr lang="en-GB" dirty="0" err="1">
                <a:latin typeface="Power Geez Unicode3" pitchFamily="2" charset="0"/>
              </a:rPr>
              <a:t>የሥራ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አስፈጻሚ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ቦርድ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  <a:p>
            <a:r>
              <a:rPr lang="en-GB" dirty="0" err="1">
                <a:latin typeface="Power Geez Unicode3" pitchFamily="2" charset="0"/>
              </a:rPr>
              <a:t>ዋና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ሥራ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አስፈጻሚ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  <a:p>
            <a:r>
              <a:rPr lang="en-GB" dirty="0" err="1">
                <a:latin typeface="Power Geez Unicode3" pitchFamily="2" charset="0"/>
              </a:rPr>
              <a:t>የኦዲት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ኮሚቴ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r>
              <a:rPr lang="en-GB" sz="42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አንቀጽ</a:t>
            </a:r>
            <a:r>
              <a:rPr lang="en-GB" sz="3600" b="1" dirty="0">
                <a:latin typeface="Power Geez Unicode3" pitchFamily="2" charset="0"/>
              </a:rPr>
              <a:t> 6፡ </a:t>
            </a:r>
            <a:r>
              <a:rPr lang="en-GB" sz="3600" b="1" dirty="0" err="1">
                <a:latin typeface="Power Geez Unicode3" pitchFamily="2" charset="0"/>
              </a:rPr>
              <a:t>የፋይናንስ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>
                <a:latin typeface="Power Geez Unicode3" pitchFamily="2" charset="0"/>
              </a:rPr>
              <a:t>ምንጮች</a:t>
            </a:r>
            <a:endParaRPr lang="en-GB" sz="3600" dirty="0">
              <a:latin typeface="Power Geez Unicode3" pitchFamily="2" charset="0"/>
            </a:endParaRPr>
          </a:p>
          <a:p>
            <a:r>
              <a:rPr lang="en-GB" dirty="0" err="1">
                <a:latin typeface="Power Geez Unicode3" pitchFamily="2" charset="0"/>
              </a:rPr>
              <a:t>የአባልነት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</a:t>
            </a:r>
            <a:endParaRPr lang="en-GB" dirty="0">
              <a:latin typeface="Power Geez Unicode3" pitchFamily="2" charset="0"/>
            </a:endParaRPr>
          </a:p>
          <a:p>
            <a:r>
              <a:rPr lang="en-GB" dirty="0" err="1">
                <a:latin typeface="Power Geez Unicode3" pitchFamily="2" charset="0"/>
              </a:rPr>
              <a:t>የምዝገባ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</a:t>
            </a:r>
            <a:endParaRPr lang="en-GB" dirty="0">
              <a:latin typeface="Power Geez Unicode3" pitchFamily="2" charset="0"/>
            </a:endParaRPr>
          </a:p>
          <a:p>
            <a:r>
              <a:rPr lang="en-GB" dirty="0" err="1">
                <a:latin typeface="Power Geez Unicode3" pitchFamily="2" charset="0"/>
              </a:rPr>
              <a:t>የአገልግሎት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ክፍያ</a:t>
            </a:r>
            <a:endParaRPr lang="en-GB" dirty="0">
              <a:latin typeface="Power Geez Unicode3" pitchFamily="2" charset="0"/>
            </a:endParaRPr>
          </a:p>
          <a:p>
            <a:r>
              <a:rPr lang="en-GB" dirty="0" err="1">
                <a:latin typeface="Power Geez Unicode3" pitchFamily="2" charset="0"/>
              </a:rPr>
              <a:t>ሕጋዊ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ሌሎች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የገቢ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ምንጮች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  <a:p>
            <a:endParaRPr lang="en-GB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22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944216"/>
          </a:xfrm>
        </p:spPr>
        <p:txBody>
          <a:bodyPr>
            <a:normAutofit fontScale="90000"/>
          </a:bodyPr>
          <a:lstStyle/>
          <a:p>
            <a:r>
              <a:rPr lang="en-GB" dirty="0" err="1">
                <a:latin typeface="Power Geez Unicode3" pitchFamily="2" charset="0"/>
              </a:rPr>
              <a:t>አንቀጽ</a:t>
            </a:r>
            <a:r>
              <a:rPr lang="en-GB" dirty="0">
                <a:latin typeface="Power Geez Unicode3" pitchFamily="2" charset="0"/>
              </a:rPr>
              <a:t> 7፡ </a:t>
            </a:r>
            <a:r>
              <a:rPr lang="en-GB" dirty="0" err="1">
                <a:latin typeface="Power Geez Unicode3" pitchFamily="2" charset="0"/>
              </a:rPr>
              <a:t>ፊርማ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r>
              <a:rPr lang="en-GB" dirty="0" err="1">
                <a:latin typeface="Power Geez Unicode3" pitchFamily="2" charset="0"/>
              </a:rPr>
              <a:t>ይህን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የመመስረቻ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ጽሑፍ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የመሰረቱ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አባላት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በፊርማቸው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ያፀድቃሉ</a:t>
            </a:r>
            <a:r>
              <a:rPr lang="en-GB" sz="4800" dirty="0"/>
              <a:t>።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109379"/>
              </p:ext>
            </p:extLst>
          </p:nvPr>
        </p:nvGraphicFramePr>
        <p:xfrm>
          <a:off x="251524" y="2348879"/>
          <a:ext cx="86409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1"/>
                <a:gridCol w="1728191"/>
                <a:gridCol w="1728191"/>
                <a:gridCol w="1728191"/>
                <a:gridCol w="1728191"/>
              </a:tblGrid>
              <a:tr h="720081">
                <a:tc>
                  <a:txBody>
                    <a:bodyPr/>
                    <a:lstStyle/>
                    <a:p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ተ</a:t>
                      </a:r>
                      <a:r>
                        <a:rPr lang="en-GB" sz="1200" dirty="0" err="1" smtClean="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ቁ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ሙሉ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ስም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ፊርማ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ቀን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ቀን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</a:tr>
              <a:tr h="333029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33029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33029">
                <a:tc>
                  <a:txBody>
                    <a:bodyPr/>
                    <a:lstStyle/>
                    <a:p>
                      <a:r>
                        <a:rPr lang="en-GB" dirty="0" smtClean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1831660">
                <a:tc>
                  <a:txBody>
                    <a:bodyPr/>
                    <a:lstStyle/>
                    <a:p>
                      <a:r>
                        <a:rPr lang="en-GB" dirty="0" smtClean="0"/>
                        <a:t>4</a:t>
                      </a:r>
                    </a:p>
                    <a:p>
                      <a:endParaRPr lang="en-GB" dirty="0" smtClean="0"/>
                    </a:p>
                    <a:p>
                      <a:endParaRPr lang="en-GB" dirty="0" smtClean="0"/>
                    </a:p>
                    <a:p>
                      <a:endParaRPr lang="en-GB" dirty="0" smtClean="0"/>
                    </a:p>
                    <a:p>
                      <a:endParaRPr lang="en-GB" dirty="0" smtClean="0"/>
                    </a:p>
                    <a:p>
                      <a:endParaRPr lang="en-GB" dirty="0" smtClean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67544" y="5762872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አደራህን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ለእግዚአብሔር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ስጥ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፤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እርሱም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ያከናውንልሃል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።" (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መዝሙር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37:5)</a:t>
            </a:r>
            <a:br>
              <a:rPr lang="en-GB" dirty="0">
                <a:solidFill>
                  <a:srgbClr val="00B050"/>
                </a:solidFill>
                <a:latin typeface="Power Geez Unicode3" pitchFamily="2" charset="0"/>
              </a:rPr>
            </a:b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እግዚአብሔር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በሁሉም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እርምጃዎት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ይምራዎ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፣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የማህበራችሁንም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ሥራ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ይባርክ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።</a:t>
            </a:r>
            <a:br>
              <a:rPr lang="en-GB" dirty="0">
                <a:solidFill>
                  <a:srgbClr val="00B050"/>
                </a:solidFill>
                <a:latin typeface="Power Geez Unicode3" pitchFamily="2" charset="0"/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563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Power Geez Unicode3" pitchFamily="2" charset="0"/>
              </a:rPr>
              <a:t>ሕገ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ደንብ</a:t>
            </a:r>
            <a:r>
              <a:rPr lang="en-GB" dirty="0">
                <a:latin typeface="Power Geez Unicode3" pitchFamily="2" charset="0"/>
              </a:rPr>
              <a:t> (Bylaws)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am-ET" sz="6200" b="1" dirty="0" smtClean="0"/>
              <a:t>      </a:t>
            </a:r>
            <a:r>
              <a:rPr lang="en-GB" sz="5600" b="1" dirty="0" err="1" smtClean="0">
                <a:latin typeface="Power Geez Unicode3" pitchFamily="2" charset="0"/>
              </a:rPr>
              <a:t>አንቀጽ</a:t>
            </a:r>
            <a:r>
              <a:rPr lang="en-GB" sz="5600" b="1" dirty="0" smtClean="0">
                <a:latin typeface="Power Geez Unicode3" pitchFamily="2" charset="0"/>
              </a:rPr>
              <a:t> </a:t>
            </a:r>
            <a:r>
              <a:rPr lang="en-GB" sz="5600" b="1" dirty="0">
                <a:latin typeface="Power Geez Unicode3" pitchFamily="2" charset="0"/>
              </a:rPr>
              <a:t>1፡ </a:t>
            </a:r>
            <a:r>
              <a:rPr lang="en-GB" sz="5600" b="1" dirty="0" err="1">
                <a:latin typeface="Power Geez Unicode3" pitchFamily="2" charset="0"/>
              </a:rPr>
              <a:t>ስም</a:t>
            </a:r>
            <a:r>
              <a:rPr lang="en-GB" sz="5600" b="1" dirty="0">
                <a:latin typeface="Power Geez Unicode3" pitchFamily="2" charset="0"/>
              </a:rPr>
              <a:t/>
            </a:r>
            <a:br>
              <a:rPr lang="en-GB" sz="5600" b="1" dirty="0">
                <a:latin typeface="Power Geez Unicode3" pitchFamily="2" charset="0"/>
              </a:rPr>
            </a:br>
            <a:endParaRPr lang="am-ET" sz="5600" b="1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የማህበሩ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ስም</a:t>
            </a:r>
            <a:r>
              <a:rPr lang="en-GB" sz="4800" dirty="0">
                <a:latin typeface="Power Geez Unicode3" pitchFamily="2" charset="0"/>
              </a:rPr>
              <a:t> "</a:t>
            </a:r>
            <a:r>
              <a:rPr lang="en-GB" sz="4800" dirty="0" err="1">
                <a:latin typeface="Power Geez Unicode3" pitchFamily="2" charset="0"/>
              </a:rPr>
              <a:t>ቤተ-ሰሊሖም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የሲቪል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ሰርባንት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እና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ቋሚ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የንግድ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ማህበረሰብ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ዘመናዊ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የዲጂታል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ዕቁብ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ማህበር</a:t>
            </a:r>
            <a:r>
              <a:rPr lang="en-GB" sz="4800" dirty="0">
                <a:latin typeface="Power Geez Unicode3" pitchFamily="2" charset="0"/>
              </a:rPr>
              <a:t>" </a:t>
            </a:r>
            <a:r>
              <a:rPr lang="en-GB" sz="4800" dirty="0" err="1">
                <a:latin typeface="Power Geez Unicode3" pitchFamily="2" charset="0"/>
              </a:rPr>
              <a:t>ይሆናል</a:t>
            </a:r>
            <a:r>
              <a:rPr lang="en-GB" sz="4800" dirty="0">
                <a:latin typeface="Power Geez Unicode3" pitchFamily="2" charset="0"/>
              </a:rPr>
              <a:t>።</a:t>
            </a:r>
            <a:br>
              <a:rPr lang="en-GB" sz="4800" dirty="0">
                <a:latin typeface="Power Geez Unicode3" pitchFamily="2" charset="0"/>
              </a:rPr>
            </a:br>
            <a:endParaRPr lang="am-ET" sz="4800" dirty="0" smtClean="0"/>
          </a:p>
          <a:p>
            <a:pPr marL="0" indent="0">
              <a:buNone/>
            </a:pPr>
            <a:r>
              <a:rPr lang="am-ET" sz="5600" b="1" dirty="0" smtClean="0"/>
              <a:t>      </a:t>
            </a:r>
            <a:r>
              <a:rPr lang="en-GB" sz="5600" b="1" dirty="0" err="1" smtClean="0">
                <a:latin typeface="Power Geez Unicode3" pitchFamily="2" charset="0"/>
              </a:rPr>
              <a:t>አንቀጽ</a:t>
            </a:r>
            <a:r>
              <a:rPr lang="en-GB" sz="5600" b="1" dirty="0" smtClean="0">
                <a:latin typeface="Power Geez Unicode3" pitchFamily="2" charset="0"/>
              </a:rPr>
              <a:t> </a:t>
            </a:r>
            <a:r>
              <a:rPr lang="en-GB" sz="5600" b="1" dirty="0">
                <a:latin typeface="Power Geez Unicode3" pitchFamily="2" charset="0"/>
              </a:rPr>
              <a:t>2፡ </a:t>
            </a:r>
            <a:r>
              <a:rPr lang="en-GB" sz="5600" b="1" dirty="0" err="1" smtClean="0">
                <a:latin typeface="Power Geez Unicode3" pitchFamily="2" charset="0"/>
              </a:rPr>
              <a:t>ዓላማ</a:t>
            </a:r>
            <a:endParaRPr lang="am-ET" sz="6200" b="1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ማህበሩ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የሚከተሉትን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ዓላማዎች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ይኖሩታል</a:t>
            </a:r>
            <a:r>
              <a:rPr lang="en-GB" sz="4800" dirty="0" smtClean="0">
                <a:latin typeface="Power Geez Unicode3" pitchFamily="2" charset="0"/>
              </a:rPr>
              <a:t>፦</a:t>
            </a:r>
            <a:endParaRPr lang="am-ET" sz="4800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በዲጂታል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መንገድ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የዕቁብ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አገልግሎት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መስጠት</a:t>
            </a:r>
            <a:r>
              <a:rPr lang="en-GB" sz="4800" dirty="0" smtClean="0">
                <a:latin typeface="Power Geez Unicode3" pitchFamily="2" charset="0"/>
              </a:rPr>
              <a:t>።</a:t>
            </a:r>
            <a:endParaRPr lang="am-ET" sz="4800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የቁጠባ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ባህልን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ማጠናከር</a:t>
            </a:r>
            <a:r>
              <a:rPr lang="en-GB" sz="4800" dirty="0">
                <a:latin typeface="Power Geez Unicode3" pitchFamily="2" charset="0"/>
              </a:rPr>
              <a:t>።</a:t>
            </a:r>
            <a:br>
              <a:rPr lang="en-GB" sz="4800" dirty="0">
                <a:latin typeface="Power Geez Unicode3" pitchFamily="2" charset="0"/>
              </a:rPr>
            </a:br>
            <a:r>
              <a:rPr lang="en-GB" sz="4800" dirty="0" err="1">
                <a:latin typeface="Power Geez Unicode3" pitchFamily="2" charset="0"/>
              </a:rPr>
              <a:t>ለአባላት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ግልጽ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እና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አስተማማኝ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የፋይናንስ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አገልግሎት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መስጠት</a:t>
            </a:r>
            <a:r>
              <a:rPr lang="en-GB" sz="4800" dirty="0" smtClean="0">
                <a:latin typeface="Power Geez Unicode3" pitchFamily="2" charset="0"/>
              </a:rPr>
              <a:t>።</a:t>
            </a:r>
            <a:endParaRPr lang="am-ET" sz="4800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የዲጂታል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ክፍያን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ማበረታታት</a:t>
            </a:r>
            <a:r>
              <a:rPr lang="en-GB" sz="4800" dirty="0" smtClean="0">
                <a:latin typeface="Power Geez Unicode3" pitchFamily="2" charset="0"/>
              </a:rPr>
              <a:t>።</a:t>
            </a:r>
            <a:endParaRPr lang="am-ET" dirty="0" smtClean="0"/>
          </a:p>
          <a:p>
            <a:pPr marL="0" indent="0">
              <a:buNone/>
            </a:pPr>
            <a:r>
              <a:rPr lang="am-ET" sz="7400" b="1" dirty="0" smtClean="0"/>
              <a:t>        </a:t>
            </a:r>
            <a:r>
              <a:rPr lang="en-GB" sz="5600" b="1" dirty="0" err="1" smtClean="0">
                <a:latin typeface="Power Geez Unicode3" pitchFamily="2" charset="0"/>
              </a:rPr>
              <a:t>አንቀጽ</a:t>
            </a:r>
            <a:r>
              <a:rPr lang="en-GB" sz="5600" b="1" dirty="0" smtClean="0">
                <a:latin typeface="Power Geez Unicode3" pitchFamily="2" charset="0"/>
              </a:rPr>
              <a:t> </a:t>
            </a:r>
            <a:r>
              <a:rPr lang="en-GB" sz="5600" b="1" dirty="0">
                <a:latin typeface="Power Geez Unicode3" pitchFamily="2" charset="0"/>
              </a:rPr>
              <a:t>3፡ </a:t>
            </a:r>
            <a:r>
              <a:rPr lang="en-GB" sz="5600" b="1" dirty="0" err="1">
                <a:latin typeface="Power Geez Unicode3" pitchFamily="2" charset="0"/>
              </a:rPr>
              <a:t>አባልነት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am-ET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smtClean="0">
                <a:latin typeface="Power Geez Unicode3" pitchFamily="2" charset="0"/>
              </a:rPr>
              <a:t>18 </a:t>
            </a:r>
            <a:r>
              <a:rPr lang="en-GB" sz="4800" dirty="0" err="1">
                <a:latin typeface="Power Geez Unicode3" pitchFamily="2" charset="0"/>
              </a:rPr>
              <a:t>ዓመት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እና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ከዚያ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በላይ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የሆነ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ማንኛውም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ግለሰብ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የማህበሩ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አባል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ሊሆን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ይችላል</a:t>
            </a:r>
            <a:r>
              <a:rPr lang="en-GB" sz="4800" dirty="0" smtClean="0">
                <a:latin typeface="Power Geez Unicode3" pitchFamily="2" charset="0"/>
              </a:rPr>
              <a:t>።</a:t>
            </a:r>
            <a:endParaRPr lang="am-ET" sz="4800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የምዝገባ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ቅጽ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በማሟላት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እና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የመጀመሪያ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ክፍያ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በመክፈል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አባልነት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ይጀምራል</a:t>
            </a:r>
            <a:r>
              <a:rPr lang="en-GB" sz="4800" dirty="0" smtClean="0">
                <a:latin typeface="Power Geez Unicode3" pitchFamily="2" charset="0"/>
              </a:rPr>
              <a:t>።</a:t>
            </a:r>
            <a:endParaRPr lang="am-ET" sz="4800" dirty="0" smtClean="0"/>
          </a:p>
          <a:p>
            <a:pPr marL="0" indent="0">
              <a:buNone/>
            </a:pPr>
            <a:r>
              <a:rPr lang="am-ET" sz="6200" b="1" dirty="0"/>
              <a:t> </a:t>
            </a:r>
            <a:r>
              <a:rPr lang="am-ET" sz="6200" b="1" dirty="0" smtClean="0"/>
              <a:t>       </a:t>
            </a:r>
            <a:r>
              <a:rPr lang="en-GB" sz="5600" b="1" dirty="0" err="1" smtClean="0">
                <a:latin typeface="Power Geez Unicode3" pitchFamily="2" charset="0"/>
              </a:rPr>
              <a:t>አንቀጽ</a:t>
            </a:r>
            <a:r>
              <a:rPr lang="en-GB" sz="5600" b="1" dirty="0" smtClean="0">
                <a:latin typeface="Power Geez Unicode3" pitchFamily="2" charset="0"/>
              </a:rPr>
              <a:t> </a:t>
            </a:r>
            <a:r>
              <a:rPr lang="en-GB" sz="5600" b="1" dirty="0">
                <a:latin typeface="Power Geez Unicode3" pitchFamily="2" charset="0"/>
              </a:rPr>
              <a:t>4፡ </a:t>
            </a:r>
            <a:r>
              <a:rPr lang="en-GB" sz="5600" b="1" dirty="0" err="1">
                <a:latin typeface="Power Geez Unicode3" pitchFamily="2" charset="0"/>
              </a:rPr>
              <a:t>የአባላት</a:t>
            </a:r>
            <a:r>
              <a:rPr lang="en-GB" sz="5600" b="1" dirty="0">
                <a:latin typeface="Power Geez Unicode3" pitchFamily="2" charset="0"/>
              </a:rPr>
              <a:t> </a:t>
            </a:r>
            <a:r>
              <a:rPr lang="en-GB" sz="5600" b="1" dirty="0" err="1" smtClean="0">
                <a:latin typeface="Power Geez Unicode3" pitchFamily="2" charset="0"/>
              </a:rPr>
              <a:t>መብት</a:t>
            </a:r>
            <a:endParaRPr lang="am-ET" sz="5600" b="1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በዕቁብ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ዙር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መሳተፍ</a:t>
            </a:r>
            <a:r>
              <a:rPr lang="en-GB" sz="4800" dirty="0" smtClean="0">
                <a:latin typeface="Power Geez Unicode3" pitchFamily="2" charset="0"/>
              </a:rPr>
              <a:t>።</a:t>
            </a:r>
            <a:endParaRPr lang="am-ET" sz="4800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በጠቅላላ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ጉባኤ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ድምጽ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መስጠት</a:t>
            </a:r>
            <a:r>
              <a:rPr lang="en-GB" sz="4800" dirty="0" smtClean="0">
                <a:latin typeface="Power Geez Unicode3" pitchFamily="2" charset="0"/>
              </a:rPr>
              <a:t>።</a:t>
            </a:r>
            <a:endParaRPr lang="am-ET" sz="4800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የፋይናንስ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ሪፖርት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ማግኘት</a:t>
            </a:r>
            <a:r>
              <a:rPr lang="en-GB" sz="4800" dirty="0" smtClean="0">
                <a:latin typeface="Power Geez Unicode3" pitchFamily="2" charset="0"/>
              </a:rPr>
              <a:t>።</a:t>
            </a:r>
            <a:endParaRPr lang="am-ET" sz="4800" dirty="0" smtClean="0"/>
          </a:p>
          <a:p>
            <a:pPr>
              <a:buFont typeface="Wingdings" pitchFamily="2" charset="2"/>
              <a:buChar char="ü"/>
            </a:pPr>
            <a:r>
              <a:rPr lang="en-GB" sz="4800" dirty="0" err="1" smtClean="0">
                <a:latin typeface="Power Geez Unicode3" pitchFamily="2" charset="0"/>
              </a:rPr>
              <a:t>ቅሬታ</a:t>
            </a:r>
            <a:r>
              <a:rPr lang="en-GB" sz="4800" dirty="0" smtClean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ማቅረብ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እና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ምላሽ</a:t>
            </a:r>
            <a:r>
              <a:rPr lang="en-GB" sz="4800" dirty="0">
                <a:latin typeface="Power Geez Unicode3" pitchFamily="2" charset="0"/>
              </a:rPr>
              <a:t> </a:t>
            </a:r>
            <a:r>
              <a:rPr lang="en-GB" sz="4800" dirty="0" err="1">
                <a:latin typeface="Power Geez Unicode3" pitchFamily="2" charset="0"/>
              </a:rPr>
              <a:t>ማግኘት</a:t>
            </a:r>
            <a:r>
              <a:rPr lang="en-GB" sz="4800" dirty="0">
                <a:latin typeface="Power Geez Unicode3" pitchFamily="2" charset="0"/>
              </a:rPr>
              <a:t>።</a:t>
            </a:r>
            <a:br>
              <a:rPr lang="en-GB" sz="4800" dirty="0">
                <a:latin typeface="Power Geez Unicode3" pitchFamily="2" charset="0"/>
              </a:rPr>
            </a:br>
            <a:endParaRPr lang="en-GB" sz="4800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37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CONT----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ü"/>
            </a:pPr>
            <a:r>
              <a:rPr lang="en-GB" sz="2500" b="1" dirty="0" err="1">
                <a:latin typeface="Power Geez Unicode3" pitchFamily="2" charset="0"/>
              </a:rPr>
              <a:t>አንቀጽ</a:t>
            </a:r>
            <a:r>
              <a:rPr lang="en-GB" sz="2500" b="1" dirty="0">
                <a:latin typeface="Power Geez Unicode3" pitchFamily="2" charset="0"/>
              </a:rPr>
              <a:t> 5፡ </a:t>
            </a:r>
            <a:r>
              <a:rPr lang="en-GB" sz="2500" b="1" dirty="0" err="1">
                <a:latin typeface="Power Geez Unicode3" pitchFamily="2" charset="0"/>
              </a:rPr>
              <a:t>የአባላት</a:t>
            </a:r>
            <a:r>
              <a:rPr lang="en-GB" sz="2500" b="1" dirty="0">
                <a:latin typeface="Power Geez Unicode3" pitchFamily="2" charset="0"/>
              </a:rPr>
              <a:t> </a:t>
            </a:r>
            <a:r>
              <a:rPr lang="en-GB" sz="2500" b="1" dirty="0" err="1" smtClean="0">
                <a:latin typeface="Power Geez Unicode3" pitchFamily="2" charset="0"/>
              </a:rPr>
              <a:t>ግዴታ</a:t>
            </a:r>
            <a:endParaRPr lang="am-ET" dirty="0" smtClean="0"/>
          </a:p>
          <a:p>
            <a:pPr>
              <a:buFont typeface="Wingdings" pitchFamily="2" charset="2"/>
              <a:buChar char="ü"/>
            </a:pPr>
            <a:r>
              <a:rPr lang="en-GB" sz="2500" dirty="0" err="1" smtClean="0"/>
              <a:t>ወርሃዊ</a:t>
            </a:r>
            <a:r>
              <a:rPr lang="en-GB" sz="2500" dirty="0" smtClean="0"/>
              <a:t> </a:t>
            </a:r>
            <a:r>
              <a:rPr lang="en-GB" sz="2500" dirty="0" err="1"/>
              <a:t>መዋጮን</a:t>
            </a:r>
            <a:r>
              <a:rPr lang="en-GB" sz="2500" dirty="0"/>
              <a:t> </a:t>
            </a:r>
            <a:r>
              <a:rPr lang="en-GB" sz="2500" dirty="0" err="1"/>
              <a:t>በወቅቱ</a:t>
            </a:r>
            <a:r>
              <a:rPr lang="en-GB" sz="2500" dirty="0"/>
              <a:t> </a:t>
            </a:r>
            <a:r>
              <a:rPr lang="en-GB" sz="2500" dirty="0" err="1"/>
              <a:t>መክፈል</a:t>
            </a:r>
            <a:r>
              <a:rPr lang="en-GB" sz="2500" dirty="0" smtClean="0"/>
              <a:t>።</a:t>
            </a:r>
            <a:endParaRPr lang="am-ET" sz="2500" dirty="0" smtClean="0"/>
          </a:p>
          <a:p>
            <a:pPr>
              <a:buFont typeface="Wingdings" pitchFamily="2" charset="2"/>
              <a:buChar char="ü"/>
            </a:pPr>
            <a:r>
              <a:rPr lang="en-GB" sz="2500" dirty="0" err="1" smtClean="0"/>
              <a:t>የማህበሩን</a:t>
            </a:r>
            <a:r>
              <a:rPr lang="en-GB" sz="2500" dirty="0" smtClean="0"/>
              <a:t> </a:t>
            </a:r>
            <a:r>
              <a:rPr lang="en-GB" sz="2500" dirty="0" err="1"/>
              <a:t>ደንብ</a:t>
            </a:r>
            <a:r>
              <a:rPr lang="en-GB" sz="2500" dirty="0"/>
              <a:t> </a:t>
            </a:r>
            <a:r>
              <a:rPr lang="en-GB" sz="2500" dirty="0" err="1"/>
              <a:t>ማክበር</a:t>
            </a:r>
            <a:r>
              <a:rPr lang="en-GB" sz="2500" dirty="0" smtClean="0"/>
              <a:t>።</a:t>
            </a:r>
            <a:endParaRPr lang="am-ET" sz="2500" dirty="0" smtClean="0"/>
          </a:p>
          <a:p>
            <a:pPr>
              <a:buFont typeface="Wingdings" pitchFamily="2" charset="2"/>
              <a:buChar char="ü"/>
            </a:pPr>
            <a:r>
              <a:rPr lang="en-GB" sz="2500" dirty="0" err="1" smtClean="0"/>
              <a:t>የማህበሩን</a:t>
            </a:r>
            <a:r>
              <a:rPr lang="en-GB" sz="2500" dirty="0" smtClean="0"/>
              <a:t> </a:t>
            </a:r>
            <a:r>
              <a:rPr lang="en-GB" sz="2500" dirty="0" err="1"/>
              <a:t>ጥቅም</a:t>
            </a:r>
            <a:r>
              <a:rPr lang="en-GB" sz="2500" dirty="0"/>
              <a:t> </a:t>
            </a:r>
            <a:r>
              <a:rPr lang="en-GB" sz="2500" dirty="0" err="1"/>
              <a:t>መጠበቅ</a:t>
            </a:r>
            <a:r>
              <a:rPr lang="en-GB" sz="2500" dirty="0"/>
              <a:t>።</a:t>
            </a:r>
            <a:br>
              <a:rPr lang="en-GB" sz="2500" dirty="0"/>
            </a:br>
            <a:r>
              <a:rPr lang="en-GB" sz="2500" dirty="0" err="1"/>
              <a:t>አንቀጽ</a:t>
            </a:r>
            <a:r>
              <a:rPr lang="en-GB" sz="2500" dirty="0"/>
              <a:t> 6፡ </a:t>
            </a:r>
            <a:r>
              <a:rPr lang="en-GB" sz="2500" dirty="0" err="1" smtClean="0"/>
              <a:t>አስተዳደር</a:t>
            </a:r>
            <a:endParaRPr lang="am-ET" sz="2500" dirty="0" smtClean="0"/>
          </a:p>
          <a:p>
            <a:pPr>
              <a:buFont typeface="Wingdings" pitchFamily="2" charset="2"/>
              <a:buChar char="ü"/>
            </a:pPr>
            <a:r>
              <a:rPr lang="en-GB" sz="2500" dirty="0" err="1" smtClean="0"/>
              <a:t>ማህበሩ</a:t>
            </a:r>
            <a:r>
              <a:rPr lang="en-GB" sz="2500" dirty="0" smtClean="0"/>
              <a:t> </a:t>
            </a:r>
            <a:r>
              <a:rPr lang="en-GB" sz="2500" dirty="0" err="1"/>
              <a:t>በሚከተሉት</a:t>
            </a:r>
            <a:r>
              <a:rPr lang="en-GB" sz="2500" dirty="0"/>
              <a:t> </a:t>
            </a:r>
            <a:r>
              <a:rPr lang="en-GB" sz="2500" dirty="0" err="1"/>
              <a:t>አካላት</a:t>
            </a:r>
            <a:r>
              <a:rPr lang="en-GB" sz="2500" dirty="0"/>
              <a:t> </a:t>
            </a:r>
            <a:r>
              <a:rPr lang="en-GB" sz="2500" dirty="0" err="1"/>
              <a:t>ይመራል</a:t>
            </a:r>
            <a:r>
              <a:rPr lang="en-GB" sz="2500" dirty="0" smtClean="0"/>
              <a:t>፦</a:t>
            </a:r>
            <a:endParaRPr lang="am-ET" sz="2500" dirty="0" smtClean="0"/>
          </a:p>
          <a:p>
            <a:pPr>
              <a:buFont typeface="Wingdings" pitchFamily="2" charset="2"/>
              <a:buChar char="ü"/>
            </a:pPr>
            <a:r>
              <a:rPr lang="en-GB" sz="2500" dirty="0" err="1" smtClean="0"/>
              <a:t>ጠቅላላ</a:t>
            </a:r>
            <a:r>
              <a:rPr lang="en-GB" sz="2500" dirty="0" smtClean="0"/>
              <a:t> </a:t>
            </a:r>
            <a:r>
              <a:rPr lang="en-GB" sz="2500" dirty="0" err="1" smtClean="0"/>
              <a:t>ጉባኤ</a:t>
            </a:r>
            <a:endParaRPr lang="am-ET" sz="2500" dirty="0" smtClean="0"/>
          </a:p>
          <a:p>
            <a:pPr>
              <a:buFont typeface="Wingdings" pitchFamily="2" charset="2"/>
              <a:buChar char="ü"/>
            </a:pPr>
            <a:r>
              <a:rPr lang="en-GB" sz="2500" dirty="0" err="1" smtClean="0"/>
              <a:t>የሥራ</a:t>
            </a:r>
            <a:r>
              <a:rPr lang="en-GB" sz="2500" dirty="0" smtClean="0"/>
              <a:t> </a:t>
            </a:r>
            <a:r>
              <a:rPr lang="en-GB" sz="2500" dirty="0" err="1"/>
              <a:t>አስፈጻሚ</a:t>
            </a:r>
            <a:r>
              <a:rPr lang="en-GB" sz="2500" dirty="0"/>
              <a:t> </a:t>
            </a:r>
            <a:r>
              <a:rPr lang="en-GB" sz="2500" dirty="0" err="1" smtClean="0"/>
              <a:t>ቦርድ</a:t>
            </a:r>
            <a:endParaRPr lang="am-ET" sz="2500" dirty="0" smtClean="0"/>
          </a:p>
          <a:p>
            <a:pPr>
              <a:buFont typeface="Wingdings" pitchFamily="2" charset="2"/>
              <a:buChar char="ü"/>
            </a:pPr>
            <a:r>
              <a:rPr lang="en-GB" sz="2500" dirty="0" err="1" smtClean="0"/>
              <a:t>ዋና</a:t>
            </a:r>
            <a:r>
              <a:rPr lang="en-GB" sz="2500" dirty="0" smtClean="0"/>
              <a:t> </a:t>
            </a:r>
            <a:r>
              <a:rPr lang="en-GB" sz="2500" dirty="0" err="1"/>
              <a:t>ሥራ</a:t>
            </a:r>
            <a:r>
              <a:rPr lang="en-GB" sz="2500" dirty="0"/>
              <a:t> </a:t>
            </a:r>
            <a:r>
              <a:rPr lang="en-GB" sz="2500" dirty="0" err="1" smtClean="0"/>
              <a:t>አስፈጻሚ</a:t>
            </a:r>
            <a:endParaRPr lang="am-ET" sz="2500" dirty="0" smtClean="0"/>
          </a:p>
          <a:p>
            <a:pPr>
              <a:buFont typeface="Wingdings" pitchFamily="2" charset="2"/>
              <a:buChar char="ü"/>
            </a:pPr>
            <a:r>
              <a:rPr lang="en-GB" sz="2500" dirty="0" err="1" smtClean="0"/>
              <a:t>ኦዲት</a:t>
            </a:r>
            <a:r>
              <a:rPr lang="en-GB" sz="2500" dirty="0" smtClean="0"/>
              <a:t> </a:t>
            </a:r>
            <a:r>
              <a:rPr lang="en-GB" sz="2500" dirty="0" err="1"/>
              <a:t>ኮሚቴ</a:t>
            </a:r>
            <a:r>
              <a:rPr lang="en-GB" dirty="0"/>
              <a:t/>
            </a:r>
            <a:br>
              <a:rPr lang="en-GB" dirty="0"/>
            </a:br>
            <a:r>
              <a:rPr lang="en-GB" sz="2500" b="1" dirty="0" err="1"/>
              <a:t>አንቀጽ</a:t>
            </a:r>
            <a:r>
              <a:rPr lang="en-GB" sz="2500" b="1" dirty="0"/>
              <a:t> 7፡ </a:t>
            </a:r>
            <a:r>
              <a:rPr lang="en-GB" sz="2500" b="1" dirty="0" err="1"/>
              <a:t>የፋይናንስ</a:t>
            </a:r>
            <a:r>
              <a:rPr lang="en-GB" sz="2500" b="1" dirty="0"/>
              <a:t> </a:t>
            </a:r>
            <a:r>
              <a:rPr lang="en-GB" sz="2500" b="1" dirty="0" err="1" smtClean="0"/>
              <a:t>አስተዳደር</a:t>
            </a:r>
            <a:endParaRPr lang="am-ET" sz="2500" b="1" dirty="0" smtClean="0"/>
          </a:p>
          <a:p>
            <a:pPr>
              <a:buFont typeface="Wingdings" pitchFamily="2" charset="2"/>
              <a:buChar char="ü"/>
            </a:pPr>
            <a:r>
              <a:rPr lang="en-GB" sz="2200" dirty="0" err="1" smtClean="0"/>
              <a:t>ሁሉም</a:t>
            </a:r>
            <a:r>
              <a:rPr lang="en-GB" sz="2200" dirty="0" smtClean="0"/>
              <a:t> </a:t>
            </a:r>
            <a:r>
              <a:rPr lang="en-GB" sz="2200" dirty="0" err="1"/>
              <a:t>ገንዘብ</a:t>
            </a:r>
            <a:r>
              <a:rPr lang="en-GB" sz="2200" dirty="0"/>
              <a:t> </a:t>
            </a:r>
            <a:r>
              <a:rPr lang="en-GB" sz="2200" dirty="0" err="1"/>
              <a:t>በባንክ</a:t>
            </a:r>
            <a:r>
              <a:rPr lang="en-GB" sz="2200" dirty="0"/>
              <a:t> </a:t>
            </a:r>
            <a:r>
              <a:rPr lang="en-GB" sz="2200" dirty="0" err="1"/>
              <a:t>ሂሳብ</a:t>
            </a:r>
            <a:r>
              <a:rPr lang="en-GB" sz="2200" dirty="0"/>
              <a:t> </a:t>
            </a:r>
            <a:r>
              <a:rPr lang="en-GB" sz="2200" dirty="0" err="1"/>
              <a:t>ይተዳደራል</a:t>
            </a:r>
            <a:r>
              <a:rPr lang="en-GB" sz="2200" dirty="0" smtClean="0"/>
              <a:t>።</a:t>
            </a:r>
            <a:endParaRPr lang="am-ET" sz="2200" dirty="0" smtClean="0"/>
          </a:p>
          <a:p>
            <a:pPr>
              <a:buFont typeface="Wingdings" pitchFamily="2" charset="2"/>
              <a:buChar char="ü"/>
            </a:pPr>
            <a:r>
              <a:rPr lang="en-GB" sz="2200" dirty="0" err="1" smtClean="0"/>
              <a:t>የውስጥና</a:t>
            </a:r>
            <a:r>
              <a:rPr lang="en-GB" sz="2200" dirty="0" smtClean="0"/>
              <a:t> </a:t>
            </a:r>
            <a:r>
              <a:rPr lang="en-GB" sz="2200" dirty="0" err="1"/>
              <a:t>የውጭ</a:t>
            </a:r>
            <a:r>
              <a:rPr lang="en-GB" sz="2200" dirty="0"/>
              <a:t> </a:t>
            </a:r>
            <a:r>
              <a:rPr lang="en-GB" sz="2200" dirty="0" err="1"/>
              <a:t>ኦዲት</a:t>
            </a:r>
            <a:r>
              <a:rPr lang="en-GB" sz="2200" dirty="0"/>
              <a:t> </a:t>
            </a:r>
            <a:r>
              <a:rPr lang="en-GB" sz="2200" dirty="0" err="1"/>
              <a:t>በመደበኛነት</a:t>
            </a:r>
            <a:r>
              <a:rPr lang="en-GB" sz="2200" dirty="0"/>
              <a:t> </a:t>
            </a:r>
            <a:r>
              <a:rPr lang="en-GB" sz="2200" dirty="0" err="1"/>
              <a:t>ይካሄዳል</a:t>
            </a:r>
            <a:r>
              <a:rPr lang="en-GB" sz="2200" dirty="0" smtClean="0"/>
              <a:t>።</a:t>
            </a:r>
            <a:endParaRPr lang="am-ET" sz="2200" dirty="0" smtClean="0"/>
          </a:p>
          <a:p>
            <a:pPr>
              <a:buFont typeface="Wingdings" pitchFamily="2" charset="2"/>
              <a:buChar char="ü"/>
            </a:pPr>
            <a:r>
              <a:rPr lang="en-GB" sz="2200" dirty="0" err="1" smtClean="0"/>
              <a:t>የፋይናንስ</a:t>
            </a:r>
            <a:r>
              <a:rPr lang="en-GB" sz="2200" dirty="0" smtClean="0"/>
              <a:t> </a:t>
            </a:r>
            <a:r>
              <a:rPr lang="en-GB" sz="2200" dirty="0" err="1"/>
              <a:t>ሪፖርት</a:t>
            </a:r>
            <a:r>
              <a:rPr lang="en-GB" sz="2200" dirty="0"/>
              <a:t> </a:t>
            </a:r>
            <a:r>
              <a:rPr lang="en-GB" sz="2200" dirty="0" err="1"/>
              <a:t>ለአባላት</a:t>
            </a:r>
            <a:r>
              <a:rPr lang="en-GB" sz="2200" dirty="0"/>
              <a:t> </a:t>
            </a:r>
            <a:r>
              <a:rPr lang="en-GB" sz="2200" dirty="0" err="1"/>
              <a:t>በየወቅቱ</a:t>
            </a:r>
            <a:r>
              <a:rPr lang="en-GB" sz="2200" dirty="0"/>
              <a:t> </a:t>
            </a:r>
            <a:r>
              <a:rPr lang="en-GB" sz="2200" dirty="0" err="1"/>
              <a:t>ይቀርባል</a:t>
            </a:r>
            <a:r>
              <a:rPr lang="en-GB" dirty="0"/>
              <a:t>።</a:t>
            </a:r>
            <a:br>
              <a:rPr lang="en-GB" dirty="0"/>
            </a:br>
            <a:r>
              <a:rPr lang="en-GB" sz="2500" b="1" dirty="0" err="1"/>
              <a:t>አንቀጽ</a:t>
            </a:r>
            <a:r>
              <a:rPr lang="en-GB" sz="2500" b="1" dirty="0"/>
              <a:t> 8፡ </a:t>
            </a:r>
            <a:r>
              <a:rPr lang="en-GB" sz="2500" b="1" dirty="0" err="1"/>
              <a:t>የደንብ</a:t>
            </a:r>
            <a:r>
              <a:rPr lang="en-GB" sz="2500" b="1" dirty="0"/>
              <a:t> </a:t>
            </a:r>
            <a:r>
              <a:rPr lang="en-GB" sz="2500" b="1" dirty="0" err="1" smtClean="0"/>
              <a:t>ማሻሻያ</a:t>
            </a:r>
            <a:endParaRPr lang="am-ET" sz="2500" b="1" dirty="0" smtClean="0"/>
          </a:p>
          <a:p>
            <a:pPr>
              <a:buFont typeface="Wingdings" pitchFamily="2" charset="2"/>
              <a:buChar char="ü"/>
            </a:pPr>
            <a:r>
              <a:rPr lang="en-GB" sz="2200" dirty="0" err="1" smtClean="0"/>
              <a:t>ይህ</a:t>
            </a:r>
            <a:r>
              <a:rPr lang="en-GB" sz="2200" dirty="0" smtClean="0"/>
              <a:t> </a:t>
            </a:r>
            <a:r>
              <a:rPr lang="en-GB" sz="2200" dirty="0" err="1"/>
              <a:t>ሕገ</a:t>
            </a:r>
            <a:r>
              <a:rPr lang="en-GB" sz="2200" dirty="0"/>
              <a:t> </a:t>
            </a:r>
            <a:r>
              <a:rPr lang="en-GB" sz="2200" dirty="0" err="1"/>
              <a:t>ደንብ</a:t>
            </a:r>
            <a:r>
              <a:rPr lang="en-GB" sz="2200" dirty="0"/>
              <a:t> </a:t>
            </a:r>
            <a:r>
              <a:rPr lang="en-GB" sz="2200" dirty="0" err="1"/>
              <a:t>በጠቅላላ</a:t>
            </a:r>
            <a:r>
              <a:rPr lang="en-GB" sz="2200" dirty="0"/>
              <a:t> </a:t>
            </a:r>
            <a:r>
              <a:rPr lang="en-GB" sz="2200" dirty="0" err="1"/>
              <a:t>ጉባኤ</a:t>
            </a:r>
            <a:r>
              <a:rPr lang="en-GB" sz="2200" dirty="0"/>
              <a:t> </a:t>
            </a:r>
            <a:r>
              <a:rPr lang="en-GB" sz="2200" dirty="0" err="1"/>
              <a:t>ከሁለት</a:t>
            </a:r>
            <a:r>
              <a:rPr lang="en-GB" sz="2200" dirty="0"/>
              <a:t> </a:t>
            </a:r>
            <a:r>
              <a:rPr lang="en-GB" sz="2200" dirty="0" err="1"/>
              <a:t>ሶስተኛ</a:t>
            </a:r>
            <a:r>
              <a:rPr lang="en-GB" sz="2200" dirty="0"/>
              <a:t> (2/3) </a:t>
            </a:r>
            <a:r>
              <a:rPr lang="en-GB" sz="2200" dirty="0" err="1"/>
              <a:t>ድምጽ</a:t>
            </a:r>
            <a:r>
              <a:rPr lang="en-GB" sz="2200" dirty="0"/>
              <a:t> </a:t>
            </a:r>
            <a:r>
              <a:rPr lang="en-GB" sz="2200" dirty="0" err="1"/>
              <a:t>በማግኘት</a:t>
            </a:r>
            <a:r>
              <a:rPr lang="en-GB" sz="2200" dirty="0"/>
              <a:t> </a:t>
            </a:r>
            <a:r>
              <a:rPr lang="en-GB" sz="2200" dirty="0" err="1"/>
              <a:t>ሊሻሻል</a:t>
            </a:r>
            <a:r>
              <a:rPr lang="en-GB" sz="2200" dirty="0"/>
              <a:t> </a:t>
            </a:r>
            <a:r>
              <a:rPr lang="en-GB" sz="2200" dirty="0" err="1"/>
              <a:t>ይችላል</a:t>
            </a:r>
            <a:r>
              <a:rPr lang="en-GB" sz="2200" dirty="0" smtClean="0"/>
              <a:t>።</a:t>
            </a:r>
            <a:endParaRPr lang="am-ET" sz="2200" dirty="0" smtClean="0"/>
          </a:p>
          <a:p>
            <a:pPr>
              <a:buFont typeface="Wingdings" pitchFamily="2" charset="2"/>
              <a:buChar char="ü"/>
            </a:pPr>
            <a:r>
              <a:rPr lang="en-GB" sz="2500" b="1" dirty="0" err="1" smtClean="0"/>
              <a:t>አንቀጽ</a:t>
            </a:r>
            <a:r>
              <a:rPr lang="en-GB" sz="2500" b="1" dirty="0" smtClean="0"/>
              <a:t> </a:t>
            </a:r>
            <a:r>
              <a:rPr lang="en-GB" sz="2500" b="1" dirty="0"/>
              <a:t>9፡ </a:t>
            </a:r>
            <a:r>
              <a:rPr lang="en-GB" sz="2500" b="1" dirty="0" err="1"/>
              <a:t>የማህበሩ</a:t>
            </a:r>
            <a:r>
              <a:rPr lang="en-GB" sz="2500" b="1" dirty="0"/>
              <a:t> </a:t>
            </a:r>
            <a:r>
              <a:rPr lang="en-GB" sz="2500" b="1" dirty="0" err="1" smtClean="0"/>
              <a:t>መፍረስ</a:t>
            </a:r>
            <a:endParaRPr lang="am-ET" sz="2500" b="1" dirty="0" smtClean="0"/>
          </a:p>
          <a:p>
            <a:pPr>
              <a:buFont typeface="Wingdings" pitchFamily="2" charset="2"/>
              <a:buChar char="ü"/>
            </a:pPr>
            <a:r>
              <a:rPr lang="en-GB" sz="2200" dirty="0" err="1" smtClean="0"/>
              <a:t>ማህበሩ</a:t>
            </a:r>
            <a:r>
              <a:rPr lang="en-GB" sz="2200" dirty="0" smtClean="0"/>
              <a:t> </a:t>
            </a:r>
            <a:r>
              <a:rPr lang="en-GB" sz="2200" dirty="0" err="1"/>
              <a:t>በህግ</a:t>
            </a:r>
            <a:r>
              <a:rPr lang="en-GB" sz="2200" dirty="0"/>
              <a:t> </a:t>
            </a:r>
            <a:r>
              <a:rPr lang="en-GB" sz="2200" dirty="0" err="1"/>
              <a:t>መሠረት</a:t>
            </a:r>
            <a:r>
              <a:rPr lang="en-GB" sz="2200" dirty="0"/>
              <a:t> </a:t>
            </a:r>
            <a:r>
              <a:rPr lang="en-GB" sz="2200" dirty="0" err="1"/>
              <a:t>ወይም</a:t>
            </a:r>
            <a:r>
              <a:rPr lang="en-GB" sz="2200" dirty="0"/>
              <a:t> </a:t>
            </a:r>
            <a:r>
              <a:rPr lang="en-GB" sz="2200" dirty="0" err="1"/>
              <a:t>በጠቅላላ</a:t>
            </a:r>
            <a:r>
              <a:rPr lang="en-GB" sz="2200" dirty="0"/>
              <a:t> </a:t>
            </a:r>
            <a:r>
              <a:rPr lang="en-GB" sz="2200" dirty="0" err="1"/>
              <a:t>ጉባኤ</a:t>
            </a:r>
            <a:r>
              <a:rPr lang="en-GB" sz="2200" dirty="0"/>
              <a:t> </a:t>
            </a:r>
            <a:r>
              <a:rPr lang="en-GB" sz="2200" dirty="0" err="1"/>
              <a:t>ውሳኔ</a:t>
            </a:r>
            <a:r>
              <a:rPr lang="en-GB" sz="2200" dirty="0"/>
              <a:t> </a:t>
            </a:r>
            <a:r>
              <a:rPr lang="en-GB" sz="2200" dirty="0" err="1"/>
              <a:t>ሊፈርስ</a:t>
            </a:r>
            <a:r>
              <a:rPr lang="en-GB" sz="2200" dirty="0"/>
              <a:t> </a:t>
            </a:r>
            <a:r>
              <a:rPr lang="en-GB" sz="2200" dirty="0" err="1"/>
              <a:t>ይችላል</a:t>
            </a:r>
            <a:r>
              <a:rPr lang="en-GB" sz="2200" dirty="0"/>
              <a:t>። </a:t>
            </a:r>
            <a:r>
              <a:rPr lang="en-GB" sz="2200" dirty="0" err="1"/>
              <a:t>ቀሪ</a:t>
            </a:r>
            <a:r>
              <a:rPr lang="en-GB" sz="2200" dirty="0"/>
              <a:t> </a:t>
            </a:r>
            <a:r>
              <a:rPr lang="en-GB" sz="2200" dirty="0" err="1"/>
              <a:t>ንብረቶች</a:t>
            </a:r>
            <a:r>
              <a:rPr lang="en-GB" sz="2200" dirty="0"/>
              <a:t> </a:t>
            </a:r>
            <a:r>
              <a:rPr lang="en-GB" sz="2200" dirty="0" err="1"/>
              <a:t>በሕግና</a:t>
            </a:r>
            <a:r>
              <a:rPr lang="en-GB" sz="2200" dirty="0"/>
              <a:t> </a:t>
            </a:r>
            <a:r>
              <a:rPr lang="en-GB" sz="2200" dirty="0" err="1"/>
              <a:t>በአባላት</a:t>
            </a:r>
            <a:r>
              <a:rPr lang="en-GB" sz="2200" dirty="0"/>
              <a:t> </a:t>
            </a:r>
            <a:r>
              <a:rPr lang="en-GB" sz="2200" dirty="0" err="1"/>
              <a:t>ውሳኔ</a:t>
            </a:r>
            <a:r>
              <a:rPr lang="en-GB" sz="2200" dirty="0"/>
              <a:t> </a:t>
            </a:r>
            <a:r>
              <a:rPr lang="en-GB" sz="2200" dirty="0" err="1"/>
              <a:t>መሠረት</a:t>
            </a:r>
            <a:r>
              <a:rPr lang="en-GB" sz="2200" dirty="0"/>
              <a:t> </a:t>
            </a:r>
            <a:r>
              <a:rPr lang="en-GB" sz="2200" dirty="0" err="1"/>
              <a:t>ይከፋፈላሉ</a:t>
            </a:r>
            <a:r>
              <a:rPr lang="en-GB" sz="2200" dirty="0"/>
              <a:t>።</a:t>
            </a:r>
          </a:p>
        </p:txBody>
      </p:sp>
    </p:spTree>
    <p:extLst>
      <p:ext uri="{BB962C8B-B14F-4D97-AF65-F5344CB8AC3E}">
        <p14:creationId xmlns:p14="http://schemas.microsoft.com/office/powerpoint/2010/main" val="189257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GB" sz="2700" dirty="0" err="1">
                <a:latin typeface="Power Geez Unicode3" pitchFamily="2" charset="0"/>
              </a:rPr>
              <a:t>የመመስረቻ</a:t>
            </a:r>
            <a:r>
              <a:rPr lang="en-GB" sz="2700" dirty="0">
                <a:latin typeface="Power Geez Unicode3" pitchFamily="2" charset="0"/>
              </a:rPr>
              <a:t> </a:t>
            </a:r>
            <a:r>
              <a:rPr lang="en-GB" sz="2700" dirty="0" err="1">
                <a:latin typeface="Power Geez Unicode3" pitchFamily="2" charset="0"/>
              </a:rPr>
              <a:t>ጽሑፍ</a:t>
            </a:r>
            <a:r>
              <a:rPr lang="en-GB" sz="2700" dirty="0">
                <a:latin typeface="Power Geez Unicode3" pitchFamily="2" charset="0"/>
              </a:rPr>
              <a:t> (Memorandum of Association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1400" dirty="0" err="1">
                <a:latin typeface="Power Geez Unicode3" pitchFamily="2" charset="0"/>
              </a:rPr>
              <a:t>ለ"ቤተ-ሰሊሖም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የሲቪል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ሰርቪስ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እና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ቋሚ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የንግድ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ማህበረሰብ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ዘመናዊ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የዲጂታል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ዕቁብ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ማህበር</a:t>
            </a:r>
            <a:r>
              <a:rPr lang="en-GB" sz="1400" dirty="0">
                <a:latin typeface="Power Geez Unicode3" pitchFamily="2" charset="0"/>
              </a:rPr>
              <a:t>"</a:t>
            </a:r>
            <a:br>
              <a:rPr lang="en-GB" sz="1400" dirty="0">
                <a:latin typeface="Power Geez Unicode3" pitchFamily="2" charset="0"/>
              </a:rPr>
            </a:br>
            <a:r>
              <a:rPr lang="en-GB" sz="1400" dirty="0" smtClean="0">
                <a:latin typeface="Power Geez Unicode3" pitchFamily="2" charset="0"/>
              </a:rPr>
              <a:t>   </a:t>
            </a:r>
            <a:r>
              <a:rPr lang="en-GB" sz="1400" b="1" dirty="0" err="1" smtClean="0">
                <a:latin typeface="Power Geez Unicode3" pitchFamily="2" charset="0"/>
              </a:rPr>
              <a:t>አንቀጽ</a:t>
            </a:r>
            <a:r>
              <a:rPr lang="en-GB" sz="1400" b="1" dirty="0" smtClean="0">
                <a:latin typeface="Power Geez Unicode3" pitchFamily="2" charset="0"/>
              </a:rPr>
              <a:t> </a:t>
            </a:r>
            <a:r>
              <a:rPr lang="en-GB" sz="1400" b="1" dirty="0">
                <a:latin typeface="Power Geez Unicode3" pitchFamily="2" charset="0"/>
              </a:rPr>
              <a:t>1፡ </a:t>
            </a:r>
            <a:r>
              <a:rPr lang="en-GB" sz="1400" b="1" dirty="0" err="1">
                <a:latin typeface="Power Geez Unicode3" pitchFamily="2" charset="0"/>
              </a:rPr>
              <a:t>የማህበሩ</a:t>
            </a:r>
            <a:r>
              <a:rPr lang="en-GB" sz="1400" b="1" dirty="0">
                <a:latin typeface="Power Geez Unicode3" pitchFamily="2" charset="0"/>
              </a:rPr>
              <a:t> </a:t>
            </a:r>
            <a:r>
              <a:rPr lang="en-GB" sz="1400" b="1" dirty="0" err="1" smtClean="0">
                <a:latin typeface="Power Geez Unicode3" pitchFamily="2" charset="0"/>
              </a:rPr>
              <a:t>ስም</a:t>
            </a:r>
            <a:endParaRPr lang="en-GB" sz="14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sz="1400" dirty="0" err="1" smtClean="0">
                <a:latin typeface="Power Geez Unicode3" pitchFamily="2" charset="0"/>
              </a:rPr>
              <a:t>የማህበሩ</a:t>
            </a:r>
            <a:r>
              <a:rPr lang="en-GB" sz="1400" dirty="0" smtClean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ስም</a:t>
            </a:r>
            <a:r>
              <a:rPr lang="en-GB" sz="1400" dirty="0">
                <a:latin typeface="Power Geez Unicode3" pitchFamily="2" charset="0"/>
              </a:rPr>
              <a:t> "</a:t>
            </a:r>
            <a:r>
              <a:rPr lang="en-GB" sz="1400" dirty="0" err="1">
                <a:latin typeface="Power Geez Unicode3" pitchFamily="2" charset="0"/>
              </a:rPr>
              <a:t>ቤተ-ሰሊሖም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የሲቪል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ሰርቪስ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እና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ቋሚ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የንግድ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ማህበረሰብ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ዘመናዊ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የዲጂታል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ዕቁብ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ማህበር</a:t>
            </a:r>
            <a:r>
              <a:rPr lang="en-GB" sz="1400" dirty="0">
                <a:latin typeface="Power Geez Unicode3" pitchFamily="2" charset="0"/>
              </a:rPr>
              <a:t>" </a:t>
            </a:r>
            <a:r>
              <a:rPr lang="en-GB" sz="1400" dirty="0" err="1">
                <a:latin typeface="Power Geez Unicode3" pitchFamily="2" charset="0"/>
              </a:rPr>
              <a:t>ይሆናል</a:t>
            </a:r>
            <a:r>
              <a:rPr lang="en-GB" sz="1400" dirty="0">
                <a:latin typeface="Power Geez Unicode3" pitchFamily="2" charset="0"/>
              </a:rPr>
              <a:t>።</a:t>
            </a:r>
            <a:br>
              <a:rPr lang="en-GB" sz="1400" dirty="0">
                <a:latin typeface="Power Geez Unicode3" pitchFamily="2" charset="0"/>
              </a:rPr>
            </a:br>
            <a:r>
              <a:rPr lang="en-GB" sz="1400" dirty="0" smtClean="0">
                <a:latin typeface="Power Geez Unicode3" pitchFamily="2" charset="0"/>
              </a:rPr>
              <a:t>   </a:t>
            </a:r>
            <a:r>
              <a:rPr lang="en-GB" sz="1400" b="1" dirty="0" err="1" smtClean="0">
                <a:latin typeface="Power Geez Unicode3" pitchFamily="2" charset="0"/>
              </a:rPr>
              <a:t>አንቀጽ</a:t>
            </a:r>
            <a:r>
              <a:rPr lang="en-GB" sz="1400" b="1" dirty="0" smtClean="0">
                <a:latin typeface="Power Geez Unicode3" pitchFamily="2" charset="0"/>
              </a:rPr>
              <a:t> </a:t>
            </a:r>
            <a:r>
              <a:rPr lang="en-GB" sz="1400" b="1" dirty="0">
                <a:latin typeface="Power Geez Unicode3" pitchFamily="2" charset="0"/>
              </a:rPr>
              <a:t>2፡ </a:t>
            </a:r>
            <a:r>
              <a:rPr lang="en-GB" sz="1400" b="1" dirty="0" err="1">
                <a:latin typeface="Power Geez Unicode3" pitchFamily="2" charset="0"/>
              </a:rPr>
              <a:t>የማህበሩ</a:t>
            </a:r>
            <a:r>
              <a:rPr lang="en-GB" sz="1400" b="1" dirty="0">
                <a:latin typeface="Power Geez Unicode3" pitchFamily="2" charset="0"/>
              </a:rPr>
              <a:t> </a:t>
            </a:r>
            <a:r>
              <a:rPr lang="en-GB" sz="1400" b="1" dirty="0" err="1" smtClean="0">
                <a:latin typeface="Power Geez Unicode3" pitchFamily="2" charset="0"/>
              </a:rPr>
              <a:t>መቋቋሚያ</a:t>
            </a:r>
            <a:endParaRPr lang="en-GB" sz="14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sz="1400" dirty="0" err="1" smtClean="0">
                <a:latin typeface="Power Geez Unicode3" pitchFamily="2" charset="0"/>
              </a:rPr>
              <a:t>ማህበሩ</a:t>
            </a:r>
            <a:r>
              <a:rPr lang="en-GB" sz="1400" dirty="0" smtClean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በኢትዮጵያ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ፌዴራላዊ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ዴሞክራሲያዊ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ሪፐብሊክ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ሕጎች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መሠረት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የሚመሠረት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ሕጋዊ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ተቋም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ነው</a:t>
            </a:r>
            <a:r>
              <a:rPr lang="en-GB" sz="1400" dirty="0">
                <a:latin typeface="Power Geez Unicode3" pitchFamily="2" charset="0"/>
              </a:rPr>
              <a:t>።</a:t>
            </a:r>
            <a:br>
              <a:rPr lang="en-GB" sz="1400" dirty="0">
                <a:latin typeface="Power Geez Unicode3" pitchFamily="2" charset="0"/>
              </a:rPr>
            </a:br>
            <a:r>
              <a:rPr lang="en-GB" sz="1400" dirty="0" smtClean="0">
                <a:latin typeface="Power Geez Unicode3" pitchFamily="2" charset="0"/>
              </a:rPr>
              <a:t>   </a:t>
            </a:r>
            <a:r>
              <a:rPr lang="en-GB" sz="1400" b="1" dirty="0" err="1" smtClean="0">
                <a:latin typeface="Power Geez Unicode3" pitchFamily="2" charset="0"/>
              </a:rPr>
              <a:t>አንቀጽ</a:t>
            </a:r>
            <a:r>
              <a:rPr lang="en-GB" sz="1400" b="1" dirty="0" smtClean="0">
                <a:latin typeface="Power Geez Unicode3" pitchFamily="2" charset="0"/>
              </a:rPr>
              <a:t> </a:t>
            </a:r>
            <a:r>
              <a:rPr lang="en-GB" sz="1400" b="1" dirty="0">
                <a:latin typeface="Power Geez Unicode3" pitchFamily="2" charset="0"/>
              </a:rPr>
              <a:t>3፡ </a:t>
            </a:r>
            <a:r>
              <a:rPr lang="en-GB" sz="1400" b="1" dirty="0" err="1" smtClean="0">
                <a:latin typeface="Power Geez Unicode3" pitchFamily="2" charset="0"/>
              </a:rPr>
              <a:t>ዓላማ</a:t>
            </a:r>
            <a:endParaRPr lang="en-GB" sz="1400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v"/>
            </a:pPr>
            <a:r>
              <a:rPr lang="en-GB" sz="1400" dirty="0" err="1" smtClean="0">
                <a:latin typeface="Power Geez Unicode3" pitchFamily="2" charset="0"/>
              </a:rPr>
              <a:t>ማህበሩ</a:t>
            </a:r>
            <a:r>
              <a:rPr lang="en-GB" sz="1400" dirty="0" smtClean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የሚከተሉትን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ዓላማዎች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ይኖሩታል</a:t>
            </a:r>
            <a:r>
              <a:rPr lang="en-GB" sz="1400" dirty="0" smtClean="0">
                <a:latin typeface="Power Geez Unicode3" pitchFamily="2" charset="0"/>
              </a:rPr>
              <a:t>፦</a:t>
            </a:r>
          </a:p>
          <a:p>
            <a:pPr>
              <a:buFont typeface="Wingdings" pitchFamily="2" charset="2"/>
              <a:buChar char="Ø"/>
            </a:pPr>
            <a:r>
              <a:rPr lang="en-GB" sz="1400" dirty="0" err="1" smtClean="0">
                <a:latin typeface="Power Geez Unicode3" pitchFamily="2" charset="0"/>
              </a:rPr>
              <a:t>ዘመናዊ</a:t>
            </a:r>
            <a:r>
              <a:rPr lang="en-GB" sz="1400" dirty="0" smtClean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የዲጂታል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ዕቁብ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አገልግሎት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መስጠት</a:t>
            </a:r>
            <a:r>
              <a:rPr lang="en-GB" sz="1400" dirty="0" smtClean="0">
                <a:latin typeface="Power Geez Unicode3" pitchFamily="2" charset="0"/>
              </a:rPr>
              <a:t>።</a:t>
            </a:r>
          </a:p>
          <a:p>
            <a:pPr>
              <a:buFont typeface="Wingdings" pitchFamily="2" charset="2"/>
              <a:buChar char="Ø"/>
            </a:pPr>
            <a:r>
              <a:rPr lang="en-GB" sz="1400" dirty="0" err="1" smtClean="0">
                <a:latin typeface="Power Geez Unicode3" pitchFamily="2" charset="0"/>
              </a:rPr>
              <a:t>የቁጠባ</a:t>
            </a:r>
            <a:r>
              <a:rPr lang="en-GB" sz="1400" dirty="0" smtClean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ባህልን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ማጠናከር</a:t>
            </a:r>
            <a:r>
              <a:rPr lang="en-GB" sz="1400" dirty="0" smtClean="0">
                <a:latin typeface="Power Geez Unicode3" pitchFamily="2" charset="0"/>
              </a:rPr>
              <a:t>።</a:t>
            </a:r>
          </a:p>
          <a:p>
            <a:pPr>
              <a:buFont typeface="Wingdings" pitchFamily="2" charset="2"/>
              <a:buChar char="Ø"/>
            </a:pPr>
            <a:r>
              <a:rPr lang="en-GB" sz="1400" dirty="0" err="1" smtClean="0">
                <a:latin typeface="Power Geez Unicode3" pitchFamily="2" charset="0"/>
              </a:rPr>
              <a:t>ለአባላት</a:t>
            </a:r>
            <a:r>
              <a:rPr lang="en-GB" sz="1400" dirty="0" smtClean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የተሻለ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የፋይናንስ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ተደራሽነት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መፍጠር</a:t>
            </a:r>
            <a:r>
              <a:rPr lang="en-GB" sz="1400" dirty="0" smtClean="0">
                <a:latin typeface="Power Geez Unicode3" pitchFamily="2" charset="0"/>
              </a:rPr>
              <a:t>።</a:t>
            </a:r>
          </a:p>
          <a:p>
            <a:pPr>
              <a:buFont typeface="Wingdings" pitchFamily="2" charset="2"/>
              <a:buChar char="Ø"/>
            </a:pPr>
            <a:r>
              <a:rPr lang="en-GB" sz="1400" dirty="0" err="1" smtClean="0">
                <a:latin typeface="Power Geez Unicode3" pitchFamily="2" charset="0"/>
              </a:rPr>
              <a:t>የዲጂታል</a:t>
            </a:r>
            <a:r>
              <a:rPr lang="en-GB" sz="1400" dirty="0" smtClean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ክፍያ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ስርዓቶችን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ማበረታታት</a:t>
            </a:r>
            <a:r>
              <a:rPr lang="en-GB" sz="1400" dirty="0">
                <a:latin typeface="Power Geez Unicode3" pitchFamily="2" charset="0"/>
              </a:rPr>
              <a:t>።</a:t>
            </a:r>
            <a:br>
              <a:rPr lang="en-GB" sz="1400" dirty="0">
                <a:latin typeface="Power Geez Unicode3" pitchFamily="2" charset="0"/>
              </a:rPr>
            </a:br>
            <a:r>
              <a:rPr lang="en-GB" sz="1400" dirty="0" smtClean="0">
                <a:latin typeface="Power Geez Unicode3" pitchFamily="2" charset="0"/>
              </a:rPr>
              <a:t>   </a:t>
            </a:r>
            <a:r>
              <a:rPr lang="en-GB" sz="1400" b="1" dirty="0" err="1" smtClean="0">
                <a:latin typeface="Power Geez Unicode3" pitchFamily="2" charset="0"/>
              </a:rPr>
              <a:t>አንቀጽ</a:t>
            </a:r>
            <a:r>
              <a:rPr lang="en-GB" sz="1400" b="1" dirty="0" smtClean="0">
                <a:latin typeface="Power Geez Unicode3" pitchFamily="2" charset="0"/>
              </a:rPr>
              <a:t> </a:t>
            </a:r>
            <a:r>
              <a:rPr lang="en-GB" sz="1400" b="1" dirty="0">
                <a:latin typeface="Power Geez Unicode3" pitchFamily="2" charset="0"/>
              </a:rPr>
              <a:t>4፡ </a:t>
            </a:r>
            <a:r>
              <a:rPr lang="en-GB" sz="1400" b="1" dirty="0" err="1" smtClean="0">
                <a:latin typeface="Power Geez Unicode3" pitchFamily="2" charset="0"/>
              </a:rPr>
              <a:t>አባልነት</a:t>
            </a:r>
            <a:endParaRPr lang="en-GB" sz="1400" b="1" dirty="0" smtClean="0">
              <a:latin typeface="Power Geez Unicode3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sz="1400" dirty="0" err="1" smtClean="0">
                <a:latin typeface="Power Geez Unicode3" pitchFamily="2" charset="0"/>
              </a:rPr>
              <a:t>አባልነት</a:t>
            </a:r>
            <a:r>
              <a:rPr lang="en-GB" sz="1400" dirty="0" smtClean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በፈቃደኝነት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ይሰጣል</a:t>
            </a:r>
            <a:r>
              <a:rPr lang="en-GB" sz="1400" dirty="0" smtClean="0">
                <a:latin typeface="Power Geez Unicode3" pitchFamily="2" charset="0"/>
              </a:rPr>
              <a:t>።</a:t>
            </a:r>
          </a:p>
          <a:p>
            <a:pPr>
              <a:buFont typeface="Wingdings" pitchFamily="2" charset="2"/>
              <a:buChar char="Ø"/>
            </a:pPr>
            <a:r>
              <a:rPr lang="en-GB" sz="1400" dirty="0" err="1" smtClean="0">
                <a:latin typeface="Power Geez Unicode3" pitchFamily="2" charset="0"/>
              </a:rPr>
              <a:t>የማህበሩን</a:t>
            </a:r>
            <a:r>
              <a:rPr lang="en-GB" sz="1400" dirty="0" smtClean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ደንብ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የሚቀበል</a:t>
            </a:r>
            <a:r>
              <a:rPr lang="en-GB" sz="1400" dirty="0">
                <a:latin typeface="Power Geez Unicode3" pitchFamily="2" charset="0"/>
              </a:rPr>
              <a:t> </a:t>
            </a:r>
            <a:r>
              <a:rPr lang="en-GB" sz="1400" dirty="0" err="1">
                <a:latin typeface="Power Geez Unicode3" pitchFamily="2" charset="0"/>
              </a:rPr>
              <a:t>እና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የአባልነት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መስፈርቶችን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የሚያሟላ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ማንኛውም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ግለሰብ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አባል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ሊሆን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ይችላል</a:t>
            </a:r>
            <a:r>
              <a:rPr lang="en-GB" sz="1800" dirty="0">
                <a:latin typeface="Power Geez Unicode3" pitchFamily="2" charset="0"/>
              </a:rPr>
              <a:t>።</a:t>
            </a:r>
          </a:p>
        </p:txBody>
      </p:sp>
    </p:spTree>
    <p:extLst>
      <p:ext uri="{BB962C8B-B14F-4D97-AF65-F5344CB8AC3E}">
        <p14:creationId xmlns:p14="http://schemas.microsoft.com/office/powerpoint/2010/main" val="358756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CONT----------------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sz="3600" dirty="0" err="1">
                <a:latin typeface="Power Geez Unicode3" pitchFamily="2" charset="0"/>
              </a:rPr>
              <a:t>አንቀጽ</a:t>
            </a:r>
            <a:r>
              <a:rPr lang="en-GB" sz="3600" dirty="0">
                <a:latin typeface="Power Geez Unicode3" pitchFamily="2" charset="0"/>
              </a:rPr>
              <a:t> 5፡ </a:t>
            </a:r>
            <a:r>
              <a:rPr lang="en-GB" sz="3600" dirty="0" err="1">
                <a:latin typeface="Power Geez Unicode3" pitchFamily="2" charset="0"/>
              </a:rPr>
              <a:t>አስተዳደር</a:t>
            </a:r>
            <a:r>
              <a:rPr lang="en-GB" dirty="0"/>
              <a:t/>
            </a:r>
            <a:br>
              <a:rPr lang="en-GB" dirty="0"/>
            </a:br>
            <a:endParaRPr lang="en-GB" dirty="0" smtClean="0"/>
          </a:p>
          <a:p>
            <a:r>
              <a:rPr lang="en-GB" b="1" dirty="0" err="1" smtClean="0">
                <a:latin typeface="Power Geez Unicode3" pitchFamily="2" charset="0"/>
              </a:rPr>
              <a:t>የማህበሩ</a:t>
            </a:r>
            <a:r>
              <a:rPr lang="en-GB" b="1" dirty="0" smtClean="0">
                <a:latin typeface="Power Geez Unicode3" pitchFamily="2" charset="0"/>
              </a:rPr>
              <a:t> </a:t>
            </a:r>
            <a:r>
              <a:rPr lang="en-GB" b="1" dirty="0" err="1">
                <a:latin typeface="Power Geez Unicode3" pitchFamily="2" charset="0"/>
              </a:rPr>
              <a:t>የአስተዳደር</a:t>
            </a:r>
            <a:r>
              <a:rPr lang="en-GB" b="1" dirty="0">
                <a:latin typeface="Power Geez Unicode3" pitchFamily="2" charset="0"/>
              </a:rPr>
              <a:t> </a:t>
            </a:r>
            <a:r>
              <a:rPr lang="en-GB" b="1" dirty="0" err="1">
                <a:latin typeface="Power Geez Unicode3" pitchFamily="2" charset="0"/>
              </a:rPr>
              <a:t>አካላት</a:t>
            </a:r>
            <a:r>
              <a:rPr lang="en-GB" dirty="0"/>
              <a:t>፦</a:t>
            </a:r>
            <a:br>
              <a:rPr lang="en-GB" dirty="0"/>
            </a:br>
            <a:endParaRPr lang="en-GB" dirty="0" smtClean="0"/>
          </a:p>
          <a:p>
            <a:r>
              <a:rPr lang="en-GB" dirty="0" err="1" smtClean="0">
                <a:latin typeface="Power Geez Unicode3" pitchFamily="2" charset="0"/>
              </a:rPr>
              <a:t>ጠቅላላ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ጉባኤ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 smtClean="0">
              <a:latin typeface="Power Geez Unicode3" pitchFamily="2" charset="0"/>
            </a:endParaRPr>
          </a:p>
          <a:p>
            <a:r>
              <a:rPr lang="en-GB" dirty="0" err="1" smtClean="0">
                <a:latin typeface="Power Geez Unicode3" pitchFamily="2" charset="0"/>
              </a:rPr>
              <a:t>የሥራ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አስፈጻሚ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ቦርድ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 smtClean="0">
              <a:latin typeface="Power Geez Unicode3" pitchFamily="2" charset="0"/>
            </a:endParaRPr>
          </a:p>
          <a:p>
            <a:r>
              <a:rPr lang="en-GB" dirty="0" err="1" smtClean="0">
                <a:latin typeface="Power Geez Unicode3" pitchFamily="2" charset="0"/>
              </a:rPr>
              <a:t>ዋና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ሥራ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አስፈጻሚ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 smtClean="0">
              <a:latin typeface="Power Geez Unicode3" pitchFamily="2" charset="0"/>
            </a:endParaRPr>
          </a:p>
          <a:p>
            <a:r>
              <a:rPr lang="en-GB" dirty="0" err="1" smtClean="0">
                <a:latin typeface="Power Geez Unicode3" pitchFamily="2" charset="0"/>
              </a:rPr>
              <a:t>የኦዲት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ኮሚቴ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r>
              <a:rPr lang="en-GB" sz="4200" b="1" dirty="0" smtClean="0">
                <a:latin typeface="Power Geez Unicode3" pitchFamily="2" charset="0"/>
              </a:rPr>
              <a:t> </a:t>
            </a:r>
            <a:r>
              <a:rPr lang="en-GB" sz="3600" b="1" dirty="0" err="1" smtClean="0">
                <a:latin typeface="Power Geez Unicode3" pitchFamily="2" charset="0"/>
              </a:rPr>
              <a:t>አንቀጽ</a:t>
            </a:r>
            <a:r>
              <a:rPr lang="en-GB" sz="3600" b="1" dirty="0" smtClean="0">
                <a:latin typeface="Power Geez Unicode3" pitchFamily="2" charset="0"/>
              </a:rPr>
              <a:t> </a:t>
            </a:r>
            <a:r>
              <a:rPr lang="en-GB" sz="3600" b="1" dirty="0">
                <a:latin typeface="Power Geez Unicode3" pitchFamily="2" charset="0"/>
              </a:rPr>
              <a:t>6፡ </a:t>
            </a:r>
            <a:r>
              <a:rPr lang="en-GB" sz="3600" b="1" dirty="0" err="1">
                <a:latin typeface="Power Geez Unicode3" pitchFamily="2" charset="0"/>
              </a:rPr>
              <a:t>የፋይናንስ</a:t>
            </a:r>
            <a:r>
              <a:rPr lang="en-GB" sz="3600" b="1" dirty="0">
                <a:latin typeface="Power Geez Unicode3" pitchFamily="2" charset="0"/>
              </a:rPr>
              <a:t> </a:t>
            </a:r>
            <a:r>
              <a:rPr lang="en-GB" sz="3600" b="1" dirty="0" err="1" smtClean="0">
                <a:latin typeface="Power Geez Unicode3" pitchFamily="2" charset="0"/>
              </a:rPr>
              <a:t>ምንጮች</a:t>
            </a:r>
            <a:endParaRPr lang="en-GB" sz="3600" dirty="0" smtClean="0">
              <a:latin typeface="Power Geez Unicode3" pitchFamily="2" charset="0"/>
            </a:endParaRPr>
          </a:p>
          <a:p>
            <a:r>
              <a:rPr lang="en-GB" dirty="0" err="1" smtClean="0">
                <a:latin typeface="Power Geez Unicode3" pitchFamily="2" charset="0"/>
              </a:rPr>
              <a:t>የአባልነት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 smtClean="0">
                <a:latin typeface="Power Geez Unicode3" pitchFamily="2" charset="0"/>
              </a:rPr>
              <a:t>ክፍያ</a:t>
            </a:r>
            <a:endParaRPr lang="en-GB" dirty="0" smtClean="0">
              <a:latin typeface="Power Geez Unicode3" pitchFamily="2" charset="0"/>
            </a:endParaRPr>
          </a:p>
          <a:p>
            <a:r>
              <a:rPr lang="en-GB" dirty="0" err="1" smtClean="0">
                <a:latin typeface="Power Geez Unicode3" pitchFamily="2" charset="0"/>
              </a:rPr>
              <a:t>የምዝገባ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 smtClean="0">
                <a:latin typeface="Power Geez Unicode3" pitchFamily="2" charset="0"/>
              </a:rPr>
              <a:t>ክፍያ</a:t>
            </a:r>
            <a:endParaRPr lang="en-GB" dirty="0" smtClean="0">
              <a:latin typeface="Power Geez Unicode3" pitchFamily="2" charset="0"/>
            </a:endParaRPr>
          </a:p>
          <a:p>
            <a:r>
              <a:rPr lang="en-GB" dirty="0" err="1" smtClean="0">
                <a:latin typeface="Power Geez Unicode3" pitchFamily="2" charset="0"/>
              </a:rPr>
              <a:t>የአገልግሎት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 smtClean="0">
                <a:latin typeface="Power Geez Unicode3" pitchFamily="2" charset="0"/>
              </a:rPr>
              <a:t>ክፍያ</a:t>
            </a:r>
            <a:endParaRPr lang="en-GB" dirty="0" smtClean="0">
              <a:latin typeface="Power Geez Unicode3" pitchFamily="2" charset="0"/>
            </a:endParaRPr>
          </a:p>
          <a:p>
            <a:r>
              <a:rPr lang="en-GB" dirty="0" err="1" smtClean="0">
                <a:latin typeface="Power Geez Unicode3" pitchFamily="2" charset="0"/>
              </a:rPr>
              <a:t>ሕጋዊ</a:t>
            </a:r>
            <a:r>
              <a:rPr lang="en-GB" dirty="0" smtClean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ሌሎች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የገቢ</a:t>
            </a:r>
            <a:r>
              <a:rPr lang="en-GB" dirty="0">
                <a:latin typeface="Power Geez Unicode3" pitchFamily="2" charset="0"/>
              </a:rPr>
              <a:t> </a:t>
            </a:r>
            <a:r>
              <a:rPr lang="en-GB" dirty="0" err="1">
                <a:latin typeface="Power Geez Unicode3" pitchFamily="2" charset="0"/>
              </a:rPr>
              <a:t>ምንጮች</a:t>
            </a:r>
            <a:r>
              <a:rPr lang="en-GB" dirty="0">
                <a:latin typeface="Power Geez Unicode3" pitchFamily="2" charset="0"/>
              </a:rPr>
              <a:t/>
            </a:r>
            <a:br>
              <a:rPr lang="en-GB" dirty="0">
                <a:latin typeface="Power Geez Unicode3" pitchFamily="2" charset="0"/>
              </a:rPr>
            </a:br>
            <a:endParaRPr lang="en-GB" dirty="0"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601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rmAutofit/>
          </a:bodyPr>
          <a:lstStyle/>
          <a:p>
            <a:r>
              <a:rPr lang="en-GB" sz="1800" dirty="0" err="1">
                <a:latin typeface="Power Geez Unicode3" pitchFamily="2" charset="0"/>
              </a:rPr>
              <a:t>አንቀጽ</a:t>
            </a:r>
            <a:r>
              <a:rPr lang="en-GB" sz="1800" dirty="0">
                <a:latin typeface="Power Geez Unicode3" pitchFamily="2" charset="0"/>
              </a:rPr>
              <a:t> 7፡ </a:t>
            </a:r>
            <a:r>
              <a:rPr lang="en-GB" sz="1800" dirty="0" err="1">
                <a:latin typeface="Power Geez Unicode3" pitchFamily="2" charset="0"/>
              </a:rPr>
              <a:t>ፊርማ</a:t>
            </a:r>
            <a:r>
              <a:rPr lang="en-GB" sz="1800" dirty="0">
                <a:latin typeface="Power Geez Unicode3" pitchFamily="2" charset="0"/>
              </a:rPr>
              <a:t/>
            </a:r>
            <a:br>
              <a:rPr lang="en-GB" sz="1800" dirty="0">
                <a:latin typeface="Power Geez Unicode3" pitchFamily="2" charset="0"/>
              </a:rPr>
            </a:br>
            <a:r>
              <a:rPr lang="en-GB" sz="1800" dirty="0" err="1">
                <a:latin typeface="Power Geez Unicode3" pitchFamily="2" charset="0"/>
              </a:rPr>
              <a:t>ይህን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የመመስረቻ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ጽሑፍ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የመሰረቱ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አባላት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በፊርማቸው</a:t>
            </a:r>
            <a:r>
              <a:rPr lang="en-GB" sz="1800" dirty="0">
                <a:latin typeface="Power Geez Unicode3" pitchFamily="2" charset="0"/>
              </a:rPr>
              <a:t> </a:t>
            </a:r>
            <a:r>
              <a:rPr lang="en-GB" sz="1800" dirty="0" err="1">
                <a:latin typeface="Power Geez Unicode3" pitchFamily="2" charset="0"/>
              </a:rPr>
              <a:t>ያፀድቃሉ</a:t>
            </a:r>
            <a:r>
              <a:rPr lang="en-GB" sz="2000" dirty="0"/>
              <a:t>።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76459"/>
              </p:ext>
            </p:extLst>
          </p:nvPr>
        </p:nvGraphicFramePr>
        <p:xfrm>
          <a:off x="457200" y="1915658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858557">
                <a:tc>
                  <a:txBody>
                    <a:bodyPr/>
                    <a:lstStyle/>
                    <a:p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ተ</a:t>
                      </a:r>
                      <a:r>
                        <a:rPr lang="en-GB" sz="1200" dirty="0" err="1" smtClean="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ቁ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ሙሉ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ስም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ፊርማ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ቀን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GB" sz="1200" dirty="0" err="1" smtClean="0">
                          <a:effectLst/>
                          <a:latin typeface="Ebrima"/>
                          <a:ea typeface="Times New Roman"/>
                          <a:cs typeface="Ebrima"/>
                        </a:rPr>
                        <a:t>ቀን</a:t>
                      </a:r>
                      <a: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  <a:t/>
                      </a:r>
                      <a:br>
                        <a:rPr lang="en-GB" sz="1200" dirty="0" smtClean="0">
                          <a:effectLst/>
                          <a:latin typeface="Times New Roman"/>
                          <a:ea typeface="Times New Roman"/>
                        </a:rPr>
                      </a:br>
                      <a:endParaRPr lang="en-GB" dirty="0"/>
                    </a:p>
                  </a:txBody>
                  <a:tcPr/>
                </a:tc>
              </a:tr>
              <a:tr h="343423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43423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43423">
                <a:tc>
                  <a:txBody>
                    <a:bodyPr/>
                    <a:lstStyle/>
                    <a:p>
                      <a:r>
                        <a:rPr lang="en-GB" dirty="0" smtClean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43423">
                <a:tc>
                  <a:txBody>
                    <a:bodyPr/>
                    <a:lstStyle/>
                    <a:p>
                      <a:r>
                        <a:rPr lang="en-GB" dirty="0" smtClean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87624" y="4437112"/>
            <a:ext cx="74168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"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አደራህን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ለእግዚአብሔር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ስጥ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፤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እርሱም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ያከናውንልሃል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።" (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መዝሙር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37:5)</a:t>
            </a:r>
            <a:br>
              <a:rPr lang="en-GB" dirty="0">
                <a:solidFill>
                  <a:srgbClr val="00B050"/>
                </a:solidFill>
                <a:latin typeface="Power Geez Unicode3" pitchFamily="2" charset="0"/>
              </a:rPr>
            </a:b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እግዚአብሔር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በሁሉም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እርምጃዎት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ይምራዎ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፣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የማህበራችሁንም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ሥራ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Power Geez Unicode3" pitchFamily="2" charset="0"/>
              </a:rPr>
              <a:t>ይባርክ</a:t>
            </a: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>።</a:t>
            </a:r>
            <a:br>
              <a:rPr lang="en-GB" dirty="0">
                <a:solidFill>
                  <a:srgbClr val="00B050"/>
                </a:solidFill>
                <a:latin typeface="Power Geez Unicode3" pitchFamily="2" charset="0"/>
              </a:rPr>
            </a:br>
            <a:r>
              <a:rPr lang="en-GB" dirty="0">
                <a:solidFill>
                  <a:srgbClr val="00B050"/>
                </a:solidFill>
                <a:latin typeface="Power Geez Unicode3" pitchFamily="2" charset="0"/>
              </a:rPr>
              <a:t/>
            </a:r>
            <a:br>
              <a:rPr lang="en-GB" dirty="0">
                <a:solidFill>
                  <a:srgbClr val="00B050"/>
                </a:solidFill>
                <a:latin typeface="Power Geez Unicode3" pitchFamily="2" charset="0"/>
              </a:rPr>
            </a:br>
            <a:endParaRPr lang="en-GB" dirty="0">
              <a:solidFill>
                <a:srgbClr val="00B050"/>
              </a:solidFill>
              <a:latin typeface="Power Geez Unicode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57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955</Words>
  <Application>Microsoft Office PowerPoint</Application>
  <PresentationFormat>On-screen Show (4:3)</PresentationFormat>
  <Paragraphs>395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1. የሽፋን ገጽ</vt:lpstr>
      <vt:lpstr>መውጫ</vt:lpstr>
      <vt:lpstr>1/ የአስፈጻሚ ማጠቃለያ (Executive Summary)</vt:lpstr>
      <vt:lpstr>2 /አገልግሎቶች</vt:lpstr>
      <vt:lpstr>3/ የገቢያ ጥናት </vt:lpstr>
      <vt:lpstr>4 / የገበያ እና የሽያጭ ስትራቴጂ</vt:lpstr>
      <vt:lpstr>5 / የድርጅቱ መዋቅር</vt:lpstr>
      <vt:lpstr>6/ የስራ ማስከጃ ዕቅድ</vt:lpstr>
      <vt:lpstr>7. የአፈጻጸም መለኪያዎች (KPIs)</vt:lpstr>
      <vt:lpstr>8 / የመጀመሪያ ካፒታል የገቢ ትንበያ </vt:lpstr>
      <vt:lpstr>9. SWOT ትንተና</vt:lpstr>
      <vt:lpstr>PowerPoint Presentation</vt:lpstr>
      <vt:lpstr>10/ የአደጋ አስተዳደር</vt:lpstr>
      <vt:lpstr>11/ የ3 ዓመት ፋይናንስ ትንበያ የፋይናንስ እቅድ (የመጀመሪያ 3 ዓመታት)</vt:lpstr>
      <vt:lpstr>12.የገንዘብ ፍሰት(Cash Flow Projection</vt:lpstr>
      <vt:lpstr>13/ዋና ወጪዎች</vt:lpstr>
      <vt:lpstr>14. የትርፍና ኪሳራ መግለጫ  (Profit &amp; Loss)</vt:lpstr>
      <vt:lpstr>15/ የ5 ዓመት ግቦች</vt:lpstr>
      <vt:lpstr>16. የትግበራ ዕቅድ (Implementation Plan)</vt:lpstr>
      <vt:lpstr>17. ክትትልና ግምገማ (Monitoring &amp; Evaluation</vt:lpstr>
      <vt:lpstr>18. መደምደሚያ</vt:lpstr>
      <vt:lpstr>19. የህግ አወቃቀር</vt:lpstr>
      <vt:lpstr>20 /የአባልነት ደንብ</vt:lpstr>
      <vt:lpstr> 21/አባሪዎች</vt:lpstr>
      <vt:lpstr>bgghgh</vt:lpstr>
      <vt:lpstr>22/ሕገ ደንብ (Bylaws)</vt:lpstr>
      <vt:lpstr>23/ CONT----------</vt:lpstr>
      <vt:lpstr>PowerPoint Presentation</vt:lpstr>
      <vt:lpstr>18. የትግበራ ዕቅድ (Implementation Plan)</vt:lpstr>
      <vt:lpstr>24/የመመስረቻ ጽሑፍ (Memorandum of Association)</vt:lpstr>
      <vt:lpstr>25/CONT----------------</vt:lpstr>
      <vt:lpstr>አንቀጽ 7፡ ፊርማ ይህን የመመስረቻ ጽሑፍ የመሰረቱ አባላት በፊርማቸው ያፀድቃሉ።</vt:lpstr>
      <vt:lpstr>ሕገ ደንብ (Bylaws)</vt:lpstr>
      <vt:lpstr>CONT----</vt:lpstr>
      <vt:lpstr>የመመስረቻ ጽሑፍ (Memorandum of Association)</vt:lpstr>
      <vt:lpstr>CONT----------------</vt:lpstr>
      <vt:lpstr>አንቀጽ 7፡ ፊርማ ይህን የመመስረቻ ጽሑፍ የመሰረቱ አባላት በፊርማቸው ያፀድቃሉ።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bete selihome</dc:title>
  <dc:creator>Maz health center</dc:creator>
  <cp:keywords>@melaku</cp:keywords>
  <cp:lastModifiedBy>Maz health center</cp:lastModifiedBy>
  <cp:revision>125</cp:revision>
  <dcterms:created xsi:type="dcterms:W3CDTF">2026-07-29T08:46:25Z</dcterms:created>
  <dcterms:modified xsi:type="dcterms:W3CDTF">2026-08-26T16:05:09Z</dcterms:modified>
</cp:coreProperties>
</file>